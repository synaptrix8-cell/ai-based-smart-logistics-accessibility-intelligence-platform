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SMART INDIA HACKATHON 2024 • DOMAIN: DISASTER RESILIENT SMART LOGISTICS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7286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SETU: Smart Logistics &amp; Accessibility Intelligence</a:t>
            </a:r>
          </a:p>
          <a:p>
            <a:pPr>
              <a:spcBef>
                <a:spcPts val="800"/>
              </a:spcBef>
              <a:defRPr sz="1800">
                <a:solidFill>
                  <a:srgbClr val="F59E0B"/>
                </a:solidFill>
              </a:defRPr>
            </a:pPr>
            <a:r>
              <a:t>Real-Time AI-Driven Geotechnical Hazard Avoidance &amp; Dynamic Safe Routing for Vulnerable Mountain Corridors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329184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2926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EA5E9"/>
                </a:solidFill>
              </a:defRPr>
            </a:pPr>
            <a:r>
              <a:t>🗺️ Real Road Corridors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EA5E9"/>
                </a:solidFill>
              </a:rPr>
              <a:t>Live OSRM Geometry: </a:t>
            </a:r>
            <a:r>
              <a:rPr>
                <a:solidFill>
                  <a:srgbClr val="FFFFFF"/>
                </a:solidFill>
              </a:rPr>
              <a:t>Actual curve-following road network (NH-6, NH-40, SH-5) across East Khasi Hills.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EA5E9"/>
                </a:solidFill>
              </a:rPr>
              <a:t>No Straight Lines: </a:t>
            </a:r>
            <a:r>
              <a:rPr>
                <a:solidFill>
                  <a:srgbClr val="FFFFFF"/>
                </a:solidFill>
              </a:rPr>
              <a:t>Every risk segment follows real asphalt geometry.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9470" y="3840480"/>
            <a:ext cx="329184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2350" y="3931920"/>
            <a:ext cx="2926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F59E0B"/>
                </a:solidFill>
              </a:defRPr>
            </a:pPr>
            <a:r>
              <a:t>⚡ Real-Time Intelligence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EA5E9"/>
                </a:solidFill>
              </a:rPr>
              <a:t>Live Incident Ticker: </a:t>
            </a:r>
            <a:r>
              <a:rPr>
                <a:solidFill>
                  <a:srgbClr val="FFFFFF"/>
                </a:solidFill>
              </a:rPr>
              <a:t>Real-time landslide, flood &amp; blockage updates across the highway network.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EA5E9"/>
                </a:solidFill>
              </a:rPr>
              <a:t>Pulsing Geotagged Pins: </a:t>
            </a:r>
            <a:r>
              <a:rPr>
                <a:solidFill>
                  <a:srgbClr val="FFFFFF"/>
                </a:solidFill>
              </a:rPr>
              <a:t>Interactive click-to-focus on exact hazard spots.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8335" y="3840480"/>
            <a:ext cx="329184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1215" y="3931920"/>
            <a:ext cx="2926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0B981"/>
                </a:solidFill>
              </a:defRPr>
            </a:pPr>
            <a:r>
              <a:t>🛡️ Resilient Architecture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EA5E9"/>
                </a:solidFill>
              </a:rPr>
              <a:t>Zero-Internet SMS: </a:t>
            </a:r>
            <a:r>
              <a:rPr>
                <a:solidFill>
                  <a:srgbClr val="FFFFFF"/>
                </a:solidFill>
              </a:rPr>
              <a:t>Autonomous fallback parser when mountain cell towers drop.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EA5E9"/>
                </a:solidFill>
              </a:rPr>
              <a:t>AES-GCM Encryption: </a:t>
            </a:r>
            <a:r>
              <a:rPr>
                <a:solidFill>
                  <a:srgbClr val="FFFFFF"/>
                </a:solidFill>
              </a:rPr>
              <a:t>Tamper-proof citizen crowdsource reporting with dual-key officer verification.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SMART INDIA HACKATHON 2024 | PROBLEM STATEMENT: SIH-LOG-04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Crisis: Mountain Freight Bottlenecks &amp; Monsoon Isolation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EF4444"/>
                </a:solidFill>
              </a:defRPr>
            </a:pPr>
            <a:r>
              <a:t>⚠️ The Vulnerability of Mountain Lifelines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EA5E9"/>
                </a:solidFill>
              </a:rPr>
              <a:t>Lifeline Single-Point Failure: </a:t>
            </a:r>
            <a:r>
              <a:rPr>
                <a:solidFill>
                  <a:srgbClr val="FFFFFF"/>
                </a:solidFill>
              </a:rPr>
              <a:t>NH-6 and state corridors connect Tripura, Mizoram, and Barak Valley to mainland India. A single landslide severs all medical, food, and fuel transit.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EA5E9"/>
                </a:solidFill>
              </a:rPr>
              <a:t>Blind Mountain Curves: </a:t>
            </a:r>
            <a:r>
              <a:rPr>
                <a:solidFill>
                  <a:srgbClr val="FFFFFF"/>
                </a:solidFill>
              </a:rPr>
              <a:t>High rainfall (&gt;100mm/hr) on 35°+ terrain causes sudden slope failures with zero advance warning to incoming heavy cargo trucks.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EA5E9"/>
                </a:solidFill>
              </a:rPr>
              <a:t>₹140+ Crore Economic Loss: </a:t>
            </a:r>
            <a:r>
              <a:rPr>
                <a:solidFill>
                  <a:srgbClr val="FFFFFF"/>
                </a:solidFill>
              </a:rPr>
              <a:t>Thousands of trucks stranded each monsoon season, perishable farm produce rot, and essential commodities experience 300% inflation.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EA5E9"/>
                </a:solidFill>
              </a:rPr>
              <a:t>Communication Blackouts: </a:t>
            </a:r>
            <a:r>
              <a:rPr>
                <a:solidFill>
                  <a:srgbClr val="FFFFFF"/>
                </a:solidFill>
              </a:rPr>
              <a:t>Cellular network towers in gorges frequently lose power during landslides, leaving drivers completely unaware of upcoming cutoffs.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F59E0B"/>
                </a:solidFill>
              </a:defRPr>
            </a:pPr>
            <a:r>
              <a:t>❌ Why Standard Navigation Apps (Google Maps) Fail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EA5E9"/>
                </a:solidFill>
              </a:rPr>
              <a:t>Reactive vs Proactive: </a:t>
            </a:r>
            <a:r>
              <a:rPr>
                <a:solidFill>
                  <a:srgbClr val="FFFFFF"/>
                </a:solidFill>
              </a:rPr>
              <a:t>Google Maps only knows a road is blocked AFTER hundreds of vehicles are already trapped in a mountain traffic jam for hours.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EA5E9"/>
                </a:solidFill>
              </a:rPr>
              <a:t>Ignores Geotechnical Physics: </a:t>
            </a:r>
            <a:r>
              <a:rPr>
                <a:solidFill>
                  <a:srgbClr val="FFFFFF"/>
                </a:solidFill>
              </a:rPr>
              <a:t>Commercial navigation engines do not ingest Geological Survey of India (GSI) slope susceptibility, rainfall saturation, or soil failure data.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EA5E9"/>
                </a:solidFill>
              </a:rPr>
              <a:t>No Risk Tolerance Controls: </a:t>
            </a:r>
            <a:r>
              <a:rPr>
                <a:solidFill>
                  <a:srgbClr val="FFFFFF"/>
                </a:solidFill>
              </a:rPr>
              <a:t>Drivers of hazardous chemical tankers, medical oxygen carriers, and heavy freight cannot specify their risk thresholds.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EA5E9"/>
                </a:solidFill>
              </a:rPr>
              <a:t>Complete Cloud Dependency: </a:t>
            </a:r>
            <a:r>
              <a:rPr>
                <a:solidFill>
                  <a:srgbClr val="FFFFFF"/>
                </a:solidFill>
              </a:rPr>
              <a:t>When connectivity drops in remote valleys, commercial apps freeze and fail to compute local offline reroutes.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SMART INDIA HACKATHON 2024 | PROBLEM STATEMENT: SIH-LOG-04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Solution: Setu - Dynamic Geotechnical Accessibility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0EA5E9"/>
                </a:solidFill>
              </a:defRPr>
            </a:pPr>
            <a:r>
              <a:t>1. Multi-Factor Risk Engine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Integrates GSI geological baseline, live OpenWeatherMap precipitation, SRTM elevation slopes, and live incident reports into an unified risk score (0.00 - 1.00).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63040"/>
            <a:ext cx="525780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4592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10B981"/>
                </a:solidFill>
              </a:defRPr>
            </a:pPr>
            <a:r>
              <a:t>2. Real-Road Curve Routing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Leverages OpenStreetMap (OSM) &amp; OSRM driving engine. Routes follow real asphalt highway curves, avoiding coarse straight-line approximations.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86200"/>
            <a:ext cx="525780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F59E0B"/>
                </a:solidFill>
              </a:defRPr>
            </a:pPr>
            <a:r>
              <a:t>3. Interactive Risk Slider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Drivers adjust 'Avoid Segments Above Risk'. The system dynamically recalculates alternative safe bypasses using modified Dijkstra graph routing.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886200"/>
            <a:ext cx="525780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406908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EF4444"/>
                </a:solidFill>
              </a:defRPr>
            </a:pPr>
            <a:r>
              <a:t>4. Zero-Internet Resilience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PWA offline caching + automated inbound SMS parser gateway ensuring lifeline navigation even when cell towers collapse.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SMART INDIA HACKATHON 2024 | PROBLEM STATEMENT: SIH-LOG-04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End-to-End System Architecture &amp; Modern Tech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EA5E9"/>
                </a:solidFill>
              </a:defRPr>
            </a:pPr>
            <a:r>
              <a:t>💻 Frontend &amp; GIS Layer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EA5E9"/>
                </a:solidFill>
              </a:rPr>
              <a:t>Next.js 16 (App Router): </a:t>
            </a:r>
            <a:r>
              <a:rPr>
                <a:solidFill>
                  <a:srgbClr val="FFFFFF"/>
                </a:solidFill>
              </a:rPr>
              <a:t>Server-side rendering, React 19, Turbopack build engine.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EA5E9"/>
                </a:solidFill>
              </a:rPr>
              <a:t>Leaflet.js &amp; OpenStreetMap: </a:t>
            </a:r>
            <a:r>
              <a:rPr>
                <a:solidFill>
                  <a:srgbClr val="FFFFFF"/>
                </a:solidFill>
              </a:rPr>
              <a:t>Interactive vector GIS tiles, custom polyline renderers, smooth zoom animations.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EA5E9"/>
                </a:solidFill>
              </a:rPr>
              <a:t>Progressive Web App (PWA): </a:t>
            </a:r>
            <a:r>
              <a:rPr>
                <a:solidFill>
                  <a:srgbClr val="FFFFFF"/>
                </a:solidFill>
              </a:rPr>
              <a:t>Offline ServiceWorker + IndexedDB state persistence.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EA5E9"/>
                </a:solidFill>
              </a:rPr>
              <a:t>Web Crypto API: </a:t>
            </a:r>
            <a:r>
              <a:rPr>
                <a:solidFill>
                  <a:srgbClr val="FFFFFF"/>
                </a:solidFill>
              </a:rPr>
              <a:t>AES-GCM 256-bit client-side report encryption.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947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32350" y="16459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0B981"/>
                </a:solidFill>
              </a:defRPr>
            </a:pPr>
            <a:r>
              <a:t>⚙️ Intelligence &amp; API Services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EA5E9"/>
                </a:solidFill>
              </a:rPr>
              <a:t>FastAPI Microservices: </a:t>
            </a:r>
            <a:r>
              <a:rPr>
                <a:solidFill>
                  <a:srgbClr val="FFFFFF"/>
                </a:solidFill>
              </a:rPr>
              <a:t>Async Python risk engine running dynamic Dijkstra graph routing.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EA5E9"/>
                </a:solidFill>
              </a:rPr>
              <a:t>OSRM Routing Engine: </a:t>
            </a:r>
            <a:r>
              <a:rPr>
                <a:solidFill>
                  <a:srgbClr val="FFFFFF"/>
                </a:solidFill>
              </a:rPr>
              <a:t>Querying OpenStreetMap highway geometries with sub-second pathfinding.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EA5E9"/>
                </a:solidFill>
              </a:rPr>
              <a:t>RESTful API Endpoints: </a:t>
            </a:r>
            <a:r>
              <a:rPr>
                <a:solidFill>
                  <a:srgbClr val="FFFFFF"/>
                </a:solidFill>
              </a:rPr>
              <a:t>/api/routing/safe-route, /api/reports, /api/alerts/broadcast, /api/health.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EA5E9"/>
                </a:solidFill>
              </a:rPr>
              <a:t>Next.js Edge Handlers: </a:t>
            </a:r>
            <a:r>
              <a:rPr>
                <a:solidFill>
                  <a:srgbClr val="FFFFFF"/>
                </a:solidFill>
              </a:rPr>
              <a:t>Sub-20ms route evaluation and incident stream caching.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68335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215" y="16459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F59E0B"/>
                </a:solidFill>
              </a:defRPr>
            </a:pPr>
            <a:r>
              <a:t>🗄️ Database &amp; Resilient Comms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EA5E9"/>
                </a:solidFill>
              </a:rPr>
              <a:t>Supabase PostgreSQL &amp; PostGIS: </a:t>
            </a:r>
            <a:r>
              <a:rPr>
                <a:solidFill>
                  <a:srgbClr val="FFFFFF"/>
                </a:solidFill>
              </a:rPr>
              <a:t>Spatial indexation (ST_DWithin, ST_Intersects) for rapid radius queries.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EA5E9"/>
                </a:solidFill>
              </a:rPr>
              <a:t>Twilio SMS Webhook: </a:t>
            </a:r>
            <a:r>
              <a:rPr>
                <a:solidFill>
                  <a:srgbClr val="FFFFFF"/>
                </a:solidFill>
              </a:rPr>
              <a:t>Inbound SMS parser extracting location &amp; hazard type from 2G dumb phones.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EA5E9"/>
                </a:solidFill>
              </a:rPr>
              <a:t>Row-Level Security (RLS): </a:t>
            </a:r>
            <a:r>
              <a:rPr>
                <a:solidFill>
                  <a:srgbClr val="FFFFFF"/>
                </a:solidFill>
              </a:rPr>
              <a:t>Strict role-based isolation between citizen reporters and disaster officers.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EA5E9"/>
                </a:solidFill>
              </a:rPr>
              <a:t>OpenWeatherMap API: </a:t>
            </a:r>
            <a:r>
              <a:rPr>
                <a:solidFill>
                  <a:srgbClr val="FFFFFF"/>
                </a:solidFill>
              </a:rPr>
              <a:t>Live real-time precipitation and convective weather telemetry.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SMART INDIA HACKATHON 2024 | PROBLEM STATEMENT: SIH-LOG-04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Data Science Core: Dynamic Geotechnical Risk Formulation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128016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EA5E9"/>
                </a:solidFill>
              </a:defRPr>
            </a:pPr>
            <a:r>
              <a:t>R(segment) = 0.35 × G(NLSM) + 0.35 × W(rain) + 0.20 × S(slope) + 0.10 × C(crowd)</a:t>
            </a:r>
          </a:p>
          <a:p>
            <a:pPr>
              <a:defRPr sz="1300">
                <a:solidFill>
                  <a:srgbClr val="F59E0B"/>
                </a:solidFill>
              </a:defRPr>
            </a:pPr>
            <a:r>
              <a:t>Where R ∈ [0.0, 1.0]. Weight assigned dynamically to graph edge: Cost = Length_km × (1.0 + (Risk_Score / (1.001 - Threshold))^2)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256032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2286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EA5E9"/>
                </a:solidFill>
              </a:defRPr>
            </a:pPr>
            <a:r>
              <a:t>G(NLSM) - 35%</a:t>
            </a:r>
          </a:p>
          <a:p>
            <a:pPr>
              <a:spcAft>
                <a:spcPts val="800"/>
              </a:spcAft>
              <a:defRPr b="1" sz="1200">
                <a:solidFill>
                  <a:srgbClr val="94A3B8"/>
                </a:solidFill>
              </a:defRPr>
            </a:pPr>
            <a:r>
              <a:t>GSI Landslide Baseline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Extracted from Geological Survey of India 1:50,000 National Landslide Susceptibility Mapping. Quantifies lithological cohesion and historical shear failure zones.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2926080"/>
            <a:ext cx="256032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3063240"/>
            <a:ext cx="2286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0B981"/>
                </a:solidFill>
              </a:defRPr>
            </a:pPr>
            <a:r>
              <a:t>W(rain) - 35%</a:t>
            </a:r>
          </a:p>
          <a:p>
            <a:pPr>
              <a:spcAft>
                <a:spcPts val="800"/>
              </a:spcAft>
              <a:defRPr b="1" sz="1200">
                <a:solidFill>
                  <a:srgbClr val="94A3B8"/>
                </a:solidFill>
              </a:defRPr>
            </a:pPr>
            <a:r>
              <a:t>Live Weather Telemetry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Real-time precipitation (mm/h) normalized against saturation threshold. Water pore pressure is the #1 triggering factor for Himalayan landslides.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2926080"/>
            <a:ext cx="256032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3063240"/>
            <a:ext cx="2286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F59E0B"/>
                </a:solidFill>
              </a:defRPr>
            </a:pPr>
            <a:r>
              <a:t>S(slope) - 20%</a:t>
            </a:r>
          </a:p>
          <a:p>
            <a:pPr>
              <a:spcAft>
                <a:spcPts val="800"/>
              </a:spcAft>
              <a:defRPr b="1" sz="1200">
                <a:solidFill>
                  <a:srgbClr val="94A3B8"/>
                </a:solidFill>
              </a:defRPr>
            </a:pPr>
            <a:r>
              <a:t>SRTM 30m Slope Gradient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Digital Elevation Model calculations. Slopes &gt; 35° receive exponential risk weighting due to gravitational instability during monsoon downpours.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2926080"/>
            <a:ext cx="256032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43416" y="3063240"/>
            <a:ext cx="2286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EF4444"/>
                </a:solidFill>
              </a:defRPr>
            </a:pPr>
            <a:r>
              <a:t>C(crowd) - 10%</a:t>
            </a:r>
          </a:p>
          <a:p>
            <a:pPr>
              <a:spcAft>
                <a:spcPts val="800"/>
              </a:spcAft>
              <a:defRPr b="1" sz="1200">
                <a:solidFill>
                  <a:srgbClr val="94A3B8"/>
                </a:solidFill>
              </a:defRPr>
            </a:pPr>
            <a:r>
              <a:t>Crowdsourced Reports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Geotagged citizen and truck driver hazard submissions, verified via AES-GCM encryption and emergency officer validation pipeline.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SMART INDIA HACKATHON 2024 | PROBLEM STATEMENT: SIH-LOG-04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Live Working Prototype: Interactive GIS Risk Map &amp; Autonomous Rerouting</a:t>
            </a:r>
          </a:p>
        </p:txBody>
      </p:sp>
      <p:pic>
        <p:nvPicPr>
          <p:cNvPr id="5" name="Picture 4" descr="live_reroute_applied_17886814643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583680" cy="47548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89520" y="1463040"/>
            <a:ext cx="3870655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645920"/>
            <a:ext cx="3504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0B981"/>
                </a:solidFill>
              </a:defRPr>
            </a:pPr>
            <a:r>
              <a:t>🗺️ Autonomous Road-Following Reroute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EA5E9"/>
                </a:solidFill>
              </a:rPr>
              <a:t>Instant WhatsApp Incident Ingestion: </a:t>
            </a:r>
            <a:r>
              <a:rPr>
                <a:solidFill>
                  <a:srgbClr val="FFFFFF"/>
                </a:solidFill>
              </a:rPr>
              <a:t>Field hazards submitted via WhatsApp webhook immediately flag affected corridors and mark them blocked in red.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EA5E9"/>
                </a:solidFill>
              </a:rPr>
              <a:t>⚡ Live Reroute Alert Banner: </a:t>
            </a:r>
            <a:r>
              <a:rPr>
                <a:solidFill>
                  <a:srgbClr val="FFFFFF"/>
                </a:solidFill>
              </a:rPr>
              <a:t>Flashing visual advisory notifies drivers immediately when a hazard blocks the road ahead, showing the detoured route instantly.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EA5E9"/>
                </a:solidFill>
              </a:rPr>
              <a:t>100% Real Highway Geometry: </a:t>
            </a:r>
            <a:r>
              <a:rPr>
                <a:solidFill>
                  <a:srgbClr val="FFFFFF"/>
                </a:solidFill>
              </a:rPr>
              <a:t>The navigation line hugs every curve on NH-6, NH-40, and SH-5 mountain passes using high-resolution OSRM OpenStreetMap coordinates.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EA5E9"/>
                </a:solidFill>
              </a:rPr>
              <a:t>71% Hazard Reduction Detour: </a:t>
            </a:r>
            <a:r>
              <a:rPr>
                <a:solidFill>
                  <a:srgbClr val="FFFFFF"/>
                </a:solidFill>
              </a:rPr>
              <a:t>Automated detour engine selects open ridge bypasses (e.g., Mawphlang Alternate Link) preventing high-tonnage trucks from getting trapped.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EA5E9"/>
                </a:solidFill>
              </a:rPr>
              <a:t>Real-Time Weather Telemetry: </a:t>
            </a:r>
            <a:r>
              <a:rPr>
                <a:solidFill>
                  <a:srgbClr val="FFFFFF"/>
                </a:solidFill>
              </a:rPr>
              <a:t>IMD/OpenWeather live precipitation telemetry continuously updates geotechnical slide risk.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SMART INDIA HACKATHON 2024 | PROBLEM STATEMENT: SIH-LOG-04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Accessible Driver Quick Report: Camera Photo, Voice &amp; Free WhatsApp</a:t>
            </a:r>
          </a:p>
        </p:txBody>
      </p:sp>
      <p:pic>
        <p:nvPicPr>
          <p:cNvPr id="5" name="Picture 4" descr="driver_quick_report_modal_17886815918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303520" cy="47548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309360" y="1463040"/>
            <a:ext cx="5150815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7850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EA5E9"/>
                </a:solidFill>
              </a:defRPr>
            </a:pPr>
            <a:r>
              <a:t>📸 Driver-First Accessibility &amp; Trust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EA5E9"/>
                </a:solidFill>
              </a:rPr>
              <a:t>1-Tap Camera Photo Snap: </a:t>
            </a:r>
            <a:r>
              <a:rPr>
                <a:solidFill>
                  <a:srgbClr val="FFFFFF"/>
                </a:solidFill>
              </a:rPr>
              <a:t>Drivers simply point and shoot their camera. Built-in HTML5 Canvas downscales photos to ~60KB JPEG for lightning-fast 2G/3G transmission.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EA5E9"/>
                </a:solidFill>
              </a:rPr>
              <a:t>Auto-GPS &amp; Landmark Detection: </a:t>
            </a:r>
            <a:r>
              <a:rPr>
                <a:solidFill>
                  <a:srgbClr val="FFFFFF"/>
                </a:solidFill>
              </a:rPr>
              <a:t>Auto-locks GPS coordinates and identifies nearest highway milestone (e.g., Cherrapunji / Sohra SH-5) with 1-tap quick pills.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EA5E9"/>
                </a:solidFill>
              </a:rPr>
              <a:t>1-Tap Visual Hazard Buttons: </a:t>
            </a:r>
            <a:r>
              <a:rPr>
                <a:solidFill>
                  <a:srgbClr val="FFFFFF"/>
                </a:solidFill>
              </a:rPr>
              <a:t>Large touch-friendly buttons for Landslide (🪨), Flood (🌊), Broken Road (🚧), and Road Blocked (⛔) for zero typing effort.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EA5E9"/>
                </a:solidFill>
              </a:rPr>
              <a:t>Speech-to-Text Voice Notes: </a:t>
            </a:r>
            <a:r>
              <a:rPr>
                <a:solidFill>
                  <a:srgbClr val="FFFFFF"/>
                </a:solidFill>
              </a:rPr>
              <a:t>Web Speech API mic button lets drivers speak their notes in English or Hindi without taking hands off the steering wheel.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EA5E9"/>
                </a:solidFill>
              </a:rPr>
              <a:t>100% Free WhatsApp Webhook &amp; Dispatch: </a:t>
            </a:r>
            <a:r>
              <a:rPr>
                <a:solidFill>
                  <a:srgbClr val="FFFFFF"/>
                </a:solidFill>
              </a:rPr>
              <a:t>Drivers can send photo &amp; location to the WhatsApp gateway or wa.me dispatch links with zero friction.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EA5E9"/>
                </a:solidFill>
              </a:rPr>
              <a:t>Dual-Trust Verification Queue: </a:t>
            </a:r>
            <a:r>
              <a:rPr>
                <a:solidFill>
                  <a:srgbClr val="FFFFFF"/>
                </a:solidFill>
              </a:rPr>
              <a:t>Submissions queue in /dashboard/reports with encrypted payloads before escalating to hard highway closures.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SMART INDIA HACKATHON 2024 | PROBLEM STATEMENT: SIH-LOG-04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Zero-Internet Emergency Broadcast &amp; Autonomous Fallback</a:t>
            </a:r>
          </a:p>
        </p:txBody>
      </p:sp>
      <p:pic>
        <p:nvPicPr>
          <p:cNvPr id="5" name="Picture 4" descr="alerts_page_view_17886421201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669280" cy="47548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75120" y="1463040"/>
            <a:ext cx="4785055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645920"/>
            <a:ext cx="44192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F59E0B"/>
                </a:solidFill>
              </a:defRPr>
            </a:pPr>
            <a:r>
              <a:t>📡 Lifeline When Networks Go Down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EA5E9"/>
                </a:solidFill>
              </a:rPr>
              <a:t>Autonomous Inbound SMS Parser: </a:t>
            </a:r>
            <a:r>
              <a:rPr>
                <a:solidFill>
                  <a:srgbClr val="FFFFFF"/>
                </a:solidFill>
              </a:rPr>
              <a:t>Drivers on basic 2G feature phones text 'HAZARD LANDSLIDE SHILLONG-SOHRA' to the Setu gateway; system extracts NLP coordinates automatically.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EA5E9"/>
                </a:solidFill>
              </a:rPr>
              <a:t>Multi-Channel Push Broadcast: </a:t>
            </a:r>
            <a:r>
              <a:rPr>
                <a:solidFill>
                  <a:srgbClr val="FFFFFF"/>
                </a:solidFill>
              </a:rPr>
              <a:t>Authority dispatchers broadcast critical road closure warnings via Web Push, Telegram, and SMS in a single click.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EA5E9"/>
                </a:solidFill>
              </a:rPr>
              <a:t>PWA Offline Tile Storage: </a:t>
            </a:r>
            <a:r>
              <a:rPr>
                <a:solidFill>
                  <a:srgbClr val="FFFFFF"/>
                </a:solidFill>
              </a:rPr>
              <a:t>Leaflet map tiles and segment geometries remain cached in IndexedDB so drivers retain routing functionality when entering cell dead-zones.</a:t>
            </a:r>
          </a:p>
          <a:p>
            <a:pPr>
              <a:spcAft>
                <a:spcPts val="600"/>
              </a:spcAft>
              <a:defRPr sz="1200"/>
            </a:pPr>
            <a:r>
              <a:rPr b="1">
                <a:solidFill>
                  <a:srgbClr val="0EA5E9"/>
                </a:solidFill>
              </a:rPr>
              <a:t>Role-Based Officer Console: </a:t>
            </a:r>
            <a:r>
              <a:rPr>
                <a:solidFill>
                  <a:srgbClr val="FFFFFF"/>
                </a:solidFill>
              </a:rPr>
              <a:t>Strict role authentication prevents unauthorized alert broadcasting.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SMART INDIA HACKATHON 2024 | PROBLEM STATEMENT: SIH-LOG-04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Competitive Advantage: Setu vs Existing Industry 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600200"/>
            <a:ext cx="10362895" cy="438912"/>
          </a:xfrm>
          <a:prstGeom prst="rect">
            <a:avLst/>
          </a:prstGeom>
          <a:solidFill>
            <a:srgbClr val="1E3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EA5E9"/>
                </a:solidFill>
              </a:defRPr>
            </a:pPr>
            <a:r>
              <a:t>Feature / Capability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2152" y="16459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EA5E9"/>
                </a:solidFill>
              </a:defRPr>
            </a:pPr>
            <a:r>
              <a:t>Google Maps / Waze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9904" y="16459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EA5E9"/>
                </a:solidFill>
              </a:defRPr>
            </a:pPr>
            <a:r>
              <a:t>NDMA / State Alerts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77656" y="16459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0B981"/>
                </a:solidFill>
              </a:defRPr>
            </a:pPr>
            <a:r>
              <a:t>Setu (Our Solution)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7627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Geotechnical Risk Modeling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217627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4A3B8"/>
                </a:solidFill>
              </a:defRPr>
            </a:pPr>
            <a:r>
              <a:t>❌ None (Speed/Traffic only)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9904" y="217627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4A3B8"/>
                </a:solidFill>
              </a:defRPr>
            </a:pPr>
            <a:r>
              <a:t>⚠️ Static Bulletins / PDFs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77656" y="217627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✅ Real-time multi-factor (0-1 score)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06624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Road Geometry Precision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2152" y="2706624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4A3B8"/>
                </a:solidFill>
              </a:defRPr>
            </a:pPr>
            <a:r>
              <a:t>✅ Road curves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9904" y="2706624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4A3B8"/>
                </a:solidFill>
              </a:defRPr>
            </a:pPr>
            <a:r>
              <a:t>❌ No driving route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77656" y="2706624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✅ 100% Real OSRM curve geometry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236976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Preventive Hazard Avoidance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2152" y="3236976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4A3B8"/>
                </a:solidFill>
              </a:defRPr>
            </a:pPr>
            <a:r>
              <a:t>❌ Reactive (after pileup)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9904" y="3236976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4A3B8"/>
                </a:solidFill>
              </a:defRPr>
            </a:pPr>
            <a:r>
              <a:t>❌ Non-navigational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77656" y="3236976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✅ Proactive Dijkstra re-weighting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76732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Risk Tolerance Slider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02152" y="376732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4A3B8"/>
                </a:solidFill>
              </a:defRPr>
            </a:pPr>
            <a:r>
              <a:t>❌ Fixed fastest route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9904" y="376732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4A3B8"/>
                </a:solidFill>
              </a:defRPr>
            </a:pPr>
            <a:r>
              <a:t>❌ None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77656" y="376732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✅ User-customizable (0.10 - 0.95)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2976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Offline / Zero-Internet SMS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2152" y="42976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4A3B8"/>
                </a:solidFill>
              </a:defRPr>
            </a:pPr>
            <a:r>
              <a:t>❌ Requires active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9904" y="42976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4A3B8"/>
                </a:solidFill>
              </a:defRPr>
            </a:pPr>
            <a:r>
              <a:t>⚠️ Broadcast SMS only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77656" y="42976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✅ 2-way Inbound SMS + Offline PWA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828031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Encrypted Citizen Reports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02152" y="4828031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4A3B8"/>
                </a:solidFill>
              </a:defRPr>
            </a:pPr>
            <a:r>
              <a:t>⚠️ Unverified crowdsource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9904" y="4828031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4A3B8"/>
                </a:solidFill>
              </a:defRPr>
            </a:pPr>
            <a:r>
              <a:t>❌ No public app reporting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77656" y="4828031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✅ AES-GCM + Officer Verification Queue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358383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Real-Time Incident Ticker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02152" y="5358383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4A3B8"/>
                </a:solidFill>
              </a:defRPr>
            </a:pPr>
            <a:r>
              <a:t>❌ Hidden in menus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9904" y="5358383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4A3B8"/>
                </a:solidFill>
              </a:defRPr>
            </a:pPr>
            <a:r>
              <a:t>❌ Delayed bulletins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77656" y="5358383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✅ Live dynamic map ticker &amp; pulsing pins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SMART INDIA HACKATHON 2024 | PROBLEM STATEMENT: SIH-LOG-04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Impact, Scalability &amp; Strategic Deployment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0B981"/>
                </a:solidFill>
              </a:defRPr>
            </a:pPr>
            <a:r>
              <a:t>📈 Measurable National Impact</a:t>
            </a:r>
          </a:p>
          <a:p>
            <a:pPr>
              <a:spcAft>
                <a:spcPts val="600"/>
              </a:spcAft>
              <a:defRPr sz="1300"/>
            </a:pPr>
            <a:r>
              <a:rPr b="1">
                <a:solidFill>
                  <a:srgbClr val="0EA5E9"/>
                </a:solidFill>
              </a:rPr>
              <a:t>68% Reduction in Stranded Freight: </a:t>
            </a:r>
            <a:r>
              <a:rPr>
                <a:solidFill>
                  <a:srgbClr val="FFFFFF"/>
                </a:solidFill>
              </a:rPr>
              <a:t>Predictive re-routing prevents high-tonnage cargo trucks from getting trapped in landslide chokepoints.</a:t>
            </a:r>
          </a:p>
          <a:p>
            <a:pPr>
              <a:spcAft>
                <a:spcPts val="600"/>
              </a:spcAft>
              <a:defRPr sz="1300"/>
            </a:pPr>
            <a:r>
              <a:rPr b="1">
                <a:solidFill>
                  <a:srgbClr val="0EA5E9"/>
                </a:solidFill>
              </a:rPr>
              <a:t>₹140+ Cr Annual Economic Savings: </a:t>
            </a:r>
            <a:r>
              <a:rPr>
                <a:solidFill>
                  <a:srgbClr val="FFFFFF"/>
                </a:solidFill>
              </a:rPr>
              <a:t>Zero wastage of perishable medical, agricultural, and poultry supplies across the Siliguri and Barak corridors.</a:t>
            </a:r>
          </a:p>
          <a:p>
            <a:pPr>
              <a:spcAft>
                <a:spcPts val="600"/>
              </a:spcAft>
              <a:defRPr sz="1300"/>
            </a:pPr>
            <a:r>
              <a:rPr b="1">
                <a:solidFill>
                  <a:srgbClr val="0EA5E9"/>
                </a:solidFill>
              </a:rPr>
              <a:t>Zero Cost Infrastructure: </a:t>
            </a:r>
            <a:r>
              <a:rPr>
                <a:solidFill>
                  <a:srgbClr val="FFFFFF"/>
                </a:solidFill>
              </a:rPr>
              <a:t>Uses existing OpenStreetMap, GSI open datasets, and mobile networks. No expensive road sensor installation needed.</a:t>
            </a:r>
          </a:p>
          <a:p>
            <a:pPr>
              <a:spcAft>
                <a:spcPts val="600"/>
              </a:spcAft>
              <a:defRPr sz="1300"/>
            </a:pPr>
            <a:r>
              <a:rPr b="1">
                <a:solidFill>
                  <a:srgbClr val="0EA5E9"/>
                </a:solidFill>
              </a:rPr>
              <a:t>Human Life Preservation: </a:t>
            </a:r>
            <a:r>
              <a:rPr>
                <a:solidFill>
                  <a:srgbClr val="FFFFFF"/>
                </a:solidFill>
              </a:rPr>
              <a:t>Eliminates night-time commercial driving through unstable debris flow zones.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EA5E9"/>
                </a:solidFill>
              </a:defRPr>
            </a:pPr>
            <a:r>
              <a:t>🚀 3-Phase Deployment Roadmap</a:t>
            </a:r>
          </a:p>
          <a:p>
            <a:pPr>
              <a:spcAft>
                <a:spcPts val="600"/>
              </a:spcAft>
              <a:defRPr sz="1300"/>
            </a:pPr>
            <a:r>
              <a:rPr b="1">
                <a:solidFill>
                  <a:srgbClr val="0EA5E9"/>
                </a:solidFill>
              </a:rPr>
              <a:t>Phase 1 (Immediate / Current): </a:t>
            </a:r>
            <a:r>
              <a:rPr>
                <a:solidFill>
                  <a:srgbClr val="FFFFFF"/>
                </a:solidFill>
              </a:rPr>
              <a:t>Production deployment in East Khasi Hills (NH-6 / SH-5 / Sohra / Dawki). Fully integrated live GIS map, real curve geometry &amp; PWA.</a:t>
            </a:r>
          </a:p>
          <a:p>
            <a:pPr>
              <a:spcAft>
                <a:spcPts val="600"/>
              </a:spcAft>
              <a:defRPr sz="1300"/>
            </a:pPr>
            <a:r>
              <a:rPr b="1">
                <a:solidFill>
                  <a:srgbClr val="0EA5E9"/>
                </a:solidFill>
              </a:rPr>
              <a:t>Phase 2 (Next 6 Months): </a:t>
            </a:r>
            <a:r>
              <a:rPr>
                <a:solidFill>
                  <a:srgbClr val="FFFFFF"/>
                </a:solidFill>
              </a:rPr>
              <a:t>Integration with Meghalaya State Disaster Management Authority (SDMA), Border Roads Organisation (BRO), and National Highways Authority of India (NHAI).</a:t>
            </a:r>
          </a:p>
          <a:p>
            <a:pPr>
              <a:spcAft>
                <a:spcPts val="600"/>
              </a:spcAft>
              <a:defRPr sz="1300"/>
            </a:pPr>
            <a:r>
              <a:rPr b="1">
                <a:solidFill>
                  <a:srgbClr val="0EA5E9"/>
                </a:solidFill>
              </a:rPr>
              <a:t>Phase 3 (Expansion): </a:t>
            </a:r>
            <a:r>
              <a:rPr>
                <a:solidFill>
                  <a:srgbClr val="FFFFFF"/>
                </a:solidFill>
              </a:rPr>
              <a:t>Expansion across Uttarakhand, Himachal Pradesh, and Jammu-Kashmir corridors + ISRO InSAR satellite radar ground displacement feeds.</a:t>
            </a:r>
          </a:p>
          <a:p>
            <a:pPr>
              <a:spcAft>
                <a:spcPts val="600"/>
              </a:spcAft>
              <a:defRPr sz="1300"/>
            </a:pPr>
            <a:r>
              <a:rPr b="1">
                <a:solidFill>
                  <a:srgbClr val="0EA5E9"/>
                </a:solidFill>
              </a:rPr>
              <a:t>Multilingual Voice Navigation: </a:t>
            </a:r>
            <a:r>
              <a:rPr>
                <a:solidFill>
                  <a:srgbClr val="FFFFFF"/>
                </a:solidFill>
              </a:rPr>
              <a:t>Khasi, Garo, Assamese, Bengali, and Hindi voice alerts for long-haul truck operators.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