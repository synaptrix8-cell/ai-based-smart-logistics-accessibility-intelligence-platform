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1: THE PRESENTER</a:t>
            </a:r>
          </a:p>
          <a:p>
            <a:r>
              <a:t>ROLE: Executive Pitch, Problem Statement &amp; National Impact</a:t>
            </a:r>
          </a:p>
          <a:p/>
          <a:p>
            <a:r>
              <a:t>TALKING POINTS (50 SECONDS):</a:t>
            </a:r>
          </a:p>
          <a:p>
            <a:r>
              <a:t>Good morning judges. We are tackling a critical blind spot in national logistics. Today, standard GPS apps route freight trucks purely based on traffic speed. In Himalayan corridors, an empty highway shows as 'green and clear' right until a 10-wheel truck drives straight into a newly triggered landslide. They cannot calculate that 150mm of rain has liquefied the mountain slope above. Furthermore, when storms knock out 4G towers, drivers are completely cut off. Our solution is Setu—a proactive logistics intelligence platform that predicts road failures before they occur, dynamically reroutes freight around hazardous ridges, and survives total network collapse through an offline-first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2: EXPERT 1 (FRONTEND &amp; GIS)</a:t>
            </a:r>
          </a:p>
          <a:p>
            <a:r>
              <a:t>ROLE: Next.js 16 App Router, Leaflet Vector GIS &amp; Zero-Latency State</a:t>
            </a:r>
          </a:p>
          <a:p/>
          <a:p>
            <a:r>
              <a:t>TALKING POINTS (50 SECONDS):</a:t>
            </a:r>
          </a:p>
          <a:p>
            <a:r>
              <a:t>Judges, I lead the Frontend and GIS Architecture. We rejected standard Google Maps embeds because they are closed-source and optimize for traffic, not geological safety. We engineered our GIS interface using Next.js 16 and custom Leaflet vector overlays. Each highway corridor is streamed as PostGIS LineStrings and passed through a Catmull-Rom spline algorithm that inserts 20 points per curve, ensuring routes hug the exact mountain contours. Our UI state orchestrates Supabase Realtime WebSockets: when a hazard is verified or cleared, the map recolors and reroutes reactively in under 100 milliseconds without refreshing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3: EXPERT 2 (ROUTING &amp; AI)</a:t>
            </a:r>
          </a:p>
          <a:p>
            <a:r>
              <a:t>ROLE: Risk-Penalized Dijkstra Algorithm, Graph Modeling &amp; Detours</a:t>
            </a:r>
          </a:p>
          <a:p/>
          <a:p>
            <a:r>
              <a:t>TALKING POINTS (50 SECONDS):</a:t>
            </a:r>
          </a:p>
          <a:p>
            <a:r>
              <a:t>Judges, I oversee the AI Routing Algorithm. Standard GPS algorithms optimize for travel time, which is dangerous in disaster terrain. We modeled the road network as a mathematical graph using Python NetworkX. Instead of using distance as the only edge weight, we multiply distance by an exponential risk penalty formula. When a driver sets their risk tolerance—say, 70%—any corridor whose live Risk Index nears that threshold causes the cost denominator to approach zero. The cost spikes to infinity, forcing Dijkstra to find an alternate route in under 20 milliseconds. Furthermore, our destination-aware engine ensures detours never overshoot endpoints, providing clean, direct routing.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4: EXPERT 3 (DATA SCIENCE &amp; RISK)</a:t>
            </a:r>
          </a:p>
          <a:p>
            <a:r>
              <a:t>ROLE: Road Risk Index (RRI), Environmental Telemetry &amp; Geotechnical Fusion</a:t>
            </a:r>
          </a:p>
          <a:p/>
          <a:p>
            <a:r>
              <a:t>TALKING POINTS (50 SECONDS):</a:t>
            </a:r>
          </a:p>
          <a:p>
            <a:r>
              <a:t>Judges, I lead Data Science and Risk Formulation. We don't guess whether a road is safe; we calculate it using our deterministic Road Risk Index equation. Landslides are physical events caused by water pore pressure overcoming soil shear strength on steep angles. Our pipeline fuses 30-meter DEM slope gradients (25% weight) with live precipitation polled every 30 seconds from OpenWeatherMap (35% weight), historical susceptibility maps from the Geological Survey of India (20% weight), and verified field reports (20% weight). When rain saturates a steep slope, the RRI spikes above our 0.70 threshold, proactively alerting drivers before the asphalt collapses.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5: EXPERT 4 (OFFLINE &amp; EDGE)</a:t>
            </a:r>
          </a:p>
          <a:p>
            <a:r>
              <a:t>ROLE: PWA Architecture, 2G SMS Webhook Parser &amp; Canvas Compression</a:t>
            </a:r>
          </a:p>
          <a:p/>
          <a:p>
            <a:r>
              <a:t>TALKING POINTS (50 SECONDS):</a:t>
            </a:r>
          </a:p>
          <a:p>
            <a:r>
              <a:t>Judges, I lead Edge Systems and Offline Resilience. In disaster logistics, assuming stable 4G internet is a fatal flaw. Setu is built as an Offline-First Progressive Web App. Our ServiceWorker caches map tiles, JavaScript, and routing networks in the device's IndexedDB. If a convoy enters a mountain canyon with zero signal, navigation continues uninterrupted. If a driver spots a hazard, our local queue stores the report and auto-syncs the moment a signal bar appears. For drivers with 2G basic feature phones, we built an SMS webhook backed by an NLP tokenizer that parses 160-character text messages into structured PostGIS hazard markers.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PERSON 6: EXPERT 5 (DATABASE &amp; SECURITY)</a:t>
            </a:r>
          </a:p>
          <a:p>
            <a:r>
              <a:t>ROLE: PostGIS Spatial Engine, Row-Level Security &amp; Anti-Fraud Triage</a:t>
            </a:r>
          </a:p>
          <a:p/>
          <a:p>
            <a:r>
              <a:t>TALKING POINTS (50 SECONDS):</a:t>
            </a:r>
          </a:p>
          <a:p>
            <a:r>
              <a:t>Judges, I lead Database Architecture and Security. In an emergency platform, data integrity is a matter of national security. Our backend runs on Supabase PostgreSQL 15 with the PostGIS spatial engine. We protect the system against fake hazard reporting through a three-layer defense: First, spatial verification: PostGIS runs an ST_DWithin query ensuring the reporter's GPS is physically within 200 meters of the road. Second, multi-vehicle consensus: 3 independent reports and traffic slowdown telemetry are required before an incident escalates. Third, strict Row-Level Security: public reports enter a quarantined 'unverified' queue. A district duty officer must visually audit the photo and click 'Verify' before the AI is legally permitted to reroute national highway traffic.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01</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1: THE PRESENTER  |  Executive Pitch, Problem Statement &amp; National Impact</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Setu: AI-Based Smart Logistics &amp; Accessibility Intelligence</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Proactive Geotechnical Risk Forecasting &amp; Resilient Mountain Supply Chains</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FBBF24"/>
                </a:solidFill>
              </a:defRPr>
            </a:pPr>
            <a:r>
              <a:t>The Himalayan Vulnerability (The Blind Spot)</a:t>
            </a:r>
          </a:p>
          <a:p>
            <a:pPr>
              <a:spcAft>
                <a:spcPts val="700"/>
              </a:spcAft>
            </a:pPr>
            <a:r>
              <a:rPr sz="950" b="1">
                <a:solidFill>
                  <a:srgbClr val="F8FAFC"/>
                </a:solidFill>
              </a:rPr>
              <a:t>• Speed vs. Geotechnical Risk: </a:t>
            </a:r>
            <a:r>
              <a:rPr sz="900">
                <a:solidFill>
                  <a:srgbClr val="94A3B8"/>
                </a:solidFill>
              </a:rPr>
              <a:t>Standard GPS engines (Google Maps) optimize purely for speed, treating an empty mountain highway as 'clear' right until a convoy hits an active mudslide.</a:t>
            </a:r>
          </a:p>
          <a:p>
            <a:pPr>
              <a:spcAft>
                <a:spcPts val="700"/>
              </a:spcAft>
            </a:pPr>
            <a:r>
              <a:rPr sz="950" b="1">
                <a:solidFill>
                  <a:srgbClr val="F8FAFC"/>
                </a:solidFill>
              </a:rPr>
              <a:t>• The Dead-Zone Crisis: </a:t>
            </a:r>
            <a:r>
              <a:rPr sz="900">
                <a:solidFill>
                  <a:srgbClr val="94A3B8"/>
                </a:solidFill>
              </a:rPr>
              <a:t>Monsoon precipitation collapses cellular towers, leaving logistics drivers stranded in 4G blackouts unable to report road hazards.</a:t>
            </a:r>
          </a:p>
          <a:p>
            <a:pPr>
              <a:spcAft>
                <a:spcPts val="700"/>
              </a:spcAft>
            </a:pPr>
            <a:r>
              <a:rPr sz="950" b="1">
                <a:solidFill>
                  <a:srgbClr val="F8FAFC"/>
                </a:solidFill>
              </a:rPr>
              <a:t>• Economic Disruption: </a:t>
            </a:r>
            <a:r>
              <a:rPr sz="900">
                <a:solidFill>
                  <a:srgbClr val="94A3B8"/>
                </a:solidFill>
              </a:rPr>
              <a:t>Supply bottlenecks across NH-6 (Assam-Meghalaya gateway) cause ₹100Cr+ in freight delays, isolating critical valley populations.</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8BDF8"/>
                </a:solidFill>
              </a:defRPr>
            </a:pPr>
            <a:r>
              <a:t>Setu Solution &amp; End-to-End Data Pipeline</a:t>
            </a:r>
          </a:p>
          <a:p>
            <a:pPr>
              <a:spcAft>
                <a:spcPts val="700"/>
              </a:spcAft>
            </a:pPr>
            <a:r>
              <a:rPr sz="950" b="1">
                <a:solidFill>
                  <a:srgbClr val="F8FAFC"/>
                </a:solidFill>
              </a:rPr>
              <a:t>• Step 1 - Environmental Ingestion: </a:t>
            </a:r>
            <a:r>
              <a:rPr sz="900">
                <a:solidFill>
                  <a:srgbClr val="94A3B8"/>
                </a:solidFill>
              </a:rPr>
              <a:t>Live precipitation from OpenWeatherMap + 30m Digital Elevation Models (DEM) + Geological Survey of India (GSI) baseline models.</a:t>
            </a:r>
          </a:p>
          <a:p>
            <a:pPr>
              <a:spcAft>
                <a:spcPts val="700"/>
              </a:spcAft>
            </a:pPr>
            <a:r>
              <a:rPr sz="950" b="1">
                <a:solidFill>
                  <a:srgbClr val="F8FAFC"/>
                </a:solidFill>
              </a:rPr>
              <a:t>• Step 2 - Risk Intelligence Engine: </a:t>
            </a:r>
            <a:r>
              <a:rPr sz="900">
                <a:solidFill>
                  <a:srgbClr val="94A3B8"/>
                </a:solidFill>
              </a:rPr>
              <a:t>Deterministic Road Risk Index (RRI) computing real-time slope shear failure probabilities.</a:t>
            </a:r>
          </a:p>
          <a:p>
            <a:pPr>
              <a:spcAft>
                <a:spcPts val="700"/>
              </a:spcAft>
            </a:pPr>
            <a:r>
              <a:rPr sz="950" b="1">
                <a:solidFill>
                  <a:srgbClr val="F8FAFC"/>
                </a:solidFill>
              </a:rPr>
              <a:t>• Step 3 - Autonomous AI Router: </a:t>
            </a:r>
            <a:r>
              <a:rPr sz="900">
                <a:solidFill>
                  <a:srgbClr val="94A3B8"/>
                </a:solidFill>
              </a:rPr>
              <a:t>Risk-penalized Dijkstra pathfinder routing convoys around unstable corridors via verified safe bypasses.</a:t>
            </a:r>
          </a:p>
          <a:p>
            <a:pPr>
              <a:spcAft>
                <a:spcPts val="700"/>
              </a:spcAft>
            </a:pPr>
            <a:r>
              <a:rPr sz="950" b="1">
                <a:solidFill>
                  <a:srgbClr val="F8FAFC"/>
                </a:solidFill>
              </a:rPr>
              <a:t>• Step 4 - Multi-Channel Dispatch: </a:t>
            </a:r>
            <a:r>
              <a:rPr sz="900">
                <a:solidFill>
                  <a:srgbClr val="94A3B8"/>
                </a:solidFill>
              </a:rPr>
              <a:t>Real-time Next.js GIS Operations Map + 2G SMS &amp; WhatsApp alert broadcasts for emergency logistics.</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34D399"/>
                </a:solidFill>
              </a:defRPr>
            </a:pPr>
            <a:r>
              <a:t>Full-Stack Technology Architecture</a:t>
            </a:r>
          </a:p>
          <a:p>
            <a:pPr>
              <a:spcAft>
                <a:spcPts val="700"/>
              </a:spcAft>
            </a:pPr>
            <a:r>
              <a:rPr sz="950" b="1">
                <a:solidFill>
                  <a:srgbClr val="F8FAFC"/>
                </a:solidFill>
              </a:rPr>
              <a:t>• Frontend &amp; GIS UI: </a:t>
            </a:r>
            <a:r>
              <a:rPr sz="900">
                <a:solidFill>
                  <a:srgbClr val="94A3B8"/>
                </a:solidFill>
              </a:rPr>
              <a:t>Next.js 16 App Router, React 19, Leaflet.js Vector GIS, Modular CSS, HTML5 Canvas.</a:t>
            </a:r>
          </a:p>
          <a:p>
            <a:pPr>
              <a:spcAft>
                <a:spcPts val="700"/>
              </a:spcAft>
            </a:pPr>
            <a:r>
              <a:rPr sz="950" b="1">
                <a:solidFill>
                  <a:srgbClr val="F8FAFC"/>
                </a:solidFill>
              </a:rPr>
              <a:t>• Routing &amp; AI Microservice: </a:t>
            </a:r>
            <a:r>
              <a:rPr sz="900">
                <a:solidFill>
                  <a:srgbClr val="94A3B8"/>
                </a:solidFill>
              </a:rPr>
              <a:t>Python 3.11, FastAPI, NetworkX Mathematical Graph Library, OSRM Engine.</a:t>
            </a:r>
          </a:p>
          <a:p>
            <a:pPr>
              <a:spcAft>
                <a:spcPts val="700"/>
              </a:spcAft>
            </a:pPr>
            <a:r>
              <a:rPr sz="950" b="1">
                <a:solidFill>
                  <a:srgbClr val="F8FAFC"/>
                </a:solidFill>
              </a:rPr>
              <a:t>• Database &amp; Geometries: </a:t>
            </a:r>
            <a:r>
              <a:rPr sz="900">
                <a:solidFill>
                  <a:srgbClr val="94A3B8"/>
                </a:solidFill>
              </a:rPr>
              <a:t>Supabase PostgreSQL 15, PostGIS Spatial Extension (ST_LineString, ST_Point).</a:t>
            </a:r>
          </a:p>
          <a:p>
            <a:pPr>
              <a:spcAft>
                <a:spcPts val="700"/>
              </a:spcAft>
            </a:pPr>
            <a:r>
              <a:rPr sz="950" b="1">
                <a:solidFill>
                  <a:srgbClr val="F8FAFC"/>
                </a:solidFill>
              </a:rPr>
              <a:t>• Edge &amp; Inbound Telephony: </a:t>
            </a:r>
            <a:r>
              <a:rPr sz="900">
                <a:solidFill>
                  <a:srgbClr val="94A3B8"/>
                </a:solidFill>
              </a:rPr>
              <a:t>Progressive Web App (PWA), ServiceWorkers, IndexedDB, Twilio SMS/WhatsApp Webhooks.</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Executive Pitch Focus: </a:t>
            </a:r>
            <a:r>
              <a:rPr sz="950">
                <a:solidFill>
                  <a:srgbClr val="F8FAFC"/>
                </a:solidFill>
              </a:rPr>
              <a:t>Setu bridges the blind spot between traffic speed and geotechnical survival. By fusing environmental telemetry with spatial graph routing, we deliver a zero-downtime logistics command center for disaster relief.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02</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2: EXPERT 1 (FRONTEND &amp; GIS)  |  Next.js 16 App Router, Leaflet Vector GIS &amp; Zero-Latency State</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Frontend Architecture, GIS Vector Mapping &amp; UI State</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High-Density Curved Geometries, Client-Side Rendering &amp; Real-Time Sync</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38BDF8"/>
                </a:solidFill>
              </a:defRPr>
            </a:pPr>
            <a:r>
              <a:t>Technology Stack &amp; Framework Choices</a:t>
            </a:r>
          </a:p>
          <a:p>
            <a:pPr>
              <a:spcAft>
                <a:spcPts val="700"/>
              </a:spcAft>
            </a:pPr>
            <a:r>
              <a:rPr sz="950" b="1">
                <a:solidFill>
                  <a:srgbClr val="F8FAFC"/>
                </a:solidFill>
              </a:rPr>
              <a:t>• Next.js 16 App Router (Turbopack): </a:t>
            </a:r>
            <a:r>
              <a:rPr sz="900">
                <a:solidFill>
                  <a:srgbClr val="94A3B8"/>
                </a:solidFill>
              </a:rPr>
              <a:t>Edge-optimized React 19 architecture providing instantaneous page loads and minimal JavaScript bundle footprint.</a:t>
            </a:r>
          </a:p>
          <a:p>
            <a:pPr>
              <a:spcAft>
                <a:spcPts val="700"/>
              </a:spcAft>
            </a:pPr>
            <a:r>
              <a:rPr sz="950" b="1">
                <a:solidFill>
                  <a:srgbClr val="F8FAFC"/>
                </a:solidFill>
              </a:rPr>
              <a:t>• Bypassing SSR via next/dynamic: </a:t>
            </a:r>
            <a:r>
              <a:rPr sz="900">
                <a:solidFill>
                  <a:srgbClr val="94A3B8"/>
                </a:solidFill>
              </a:rPr>
              <a:t>Leaflet strictly requires the browser DOM window object. We wrap the GIS map in next/dynamic({ ssr: false }) to eliminate server-side hydration mismatches.</a:t>
            </a:r>
          </a:p>
          <a:p>
            <a:pPr>
              <a:spcAft>
                <a:spcPts val="700"/>
              </a:spcAft>
            </a:pPr>
            <a:r>
              <a:rPr sz="950" b="1">
                <a:solidFill>
                  <a:srgbClr val="F8FAFC"/>
                </a:solidFill>
              </a:rPr>
              <a:t>• Modular CSS Architecture: </a:t>
            </a:r>
            <a:r>
              <a:rPr sz="900">
                <a:solidFill>
                  <a:srgbClr val="94A3B8"/>
                </a:solidFill>
              </a:rPr>
              <a:t>Strict .module.css scoping prevents style leakage and keeps CSS footprint below 40KB for rapid 2G mobile loading.</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4D399"/>
                </a:solidFill>
              </a:defRPr>
            </a:pPr>
            <a:r>
              <a:t>Data Pipeline: Raw PostGIS to Spline Curves</a:t>
            </a:r>
          </a:p>
          <a:p>
            <a:pPr>
              <a:spcAft>
                <a:spcPts val="700"/>
              </a:spcAft>
            </a:pPr>
            <a:r>
              <a:rPr sz="950" b="1">
                <a:solidFill>
                  <a:srgbClr val="F8FAFC"/>
                </a:solidFill>
              </a:rPr>
              <a:t>• PostGIS Vector Ingestion: </a:t>
            </a:r>
            <a:r>
              <a:rPr sz="900">
                <a:solidFill>
                  <a:srgbClr val="94A3B8"/>
                </a:solidFill>
              </a:rPr>
              <a:t>Highways (NH-6, SH-5, NH-40) are streamed as PostGIS ST_LineString GeoJSON coordinates from our PostgreSQL backend.</a:t>
            </a:r>
          </a:p>
          <a:p>
            <a:pPr>
              <a:spcAft>
                <a:spcPts val="700"/>
              </a:spcAft>
            </a:pPr>
            <a:r>
              <a:rPr sz="950" b="1">
                <a:solidFill>
                  <a:srgbClr val="F8FAFC"/>
                </a:solidFill>
              </a:rPr>
              <a:t>• Catmull-Rom Spline Densification: </a:t>
            </a:r>
            <a:r>
              <a:rPr sz="900">
                <a:solidFill>
                  <a:srgbClr val="94A3B8"/>
                </a:solidFill>
              </a:rPr>
              <a:t>Generic maps draw coarse diagonal lines across mountains. Our engine inserts 15-20 spline subdivision points per corridor so routes visually hug the true asphalt curves.</a:t>
            </a:r>
          </a:p>
          <a:p>
            <a:pPr>
              <a:spcAft>
                <a:spcPts val="700"/>
              </a:spcAft>
            </a:pPr>
            <a:r>
              <a:rPr sz="950" b="1">
                <a:solidFill>
                  <a:srgbClr val="F8FAFC"/>
                </a:solidFill>
              </a:rPr>
              <a:t>• Dynamic Color Quantization: </a:t>
            </a:r>
            <a:r>
              <a:rPr sz="900">
                <a:solidFill>
                  <a:srgbClr val="94A3B8"/>
                </a:solidFill>
              </a:rPr>
              <a:t>Polylines reactively recolor in real-time: Green (RRI &lt; 0.40), Yellow (0.40 - 0.70), Red Hazard (&gt; 0.70), and Blue (AI Safe Detour).</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FBBF24"/>
                </a:solidFill>
              </a:defRPr>
            </a:pPr>
            <a:r>
              <a:t>Zero-Latency UI State Synchronization</a:t>
            </a:r>
          </a:p>
          <a:p>
            <a:pPr>
              <a:spcAft>
                <a:spcPts val="700"/>
              </a:spcAft>
            </a:pPr>
            <a:r>
              <a:rPr sz="950" b="1">
                <a:solidFill>
                  <a:srgbClr val="F8FAFC"/>
                </a:solidFill>
              </a:rPr>
              <a:t>• Supabase WebSocket Listeners: </a:t>
            </a:r>
            <a:r>
              <a:rPr sz="900">
                <a:solidFill>
                  <a:srgbClr val="94A3B8"/>
                </a:solidFill>
              </a:rPr>
              <a:t>Live database mutations (hazard alerts &amp; official road clearances) push to the client over WebSockets in &lt; 100ms.</a:t>
            </a:r>
          </a:p>
          <a:p>
            <a:pPr>
              <a:spcAft>
                <a:spcPts val="700"/>
              </a:spcAft>
            </a:pPr>
            <a:r>
              <a:rPr sz="950" b="1">
                <a:solidFill>
                  <a:srgbClr val="F8FAFC"/>
                </a:solidFill>
              </a:rPr>
              <a:t>• Optimistic UI Updates: </a:t>
            </a:r>
            <a:r>
              <a:rPr sz="900">
                <a:solidFill>
                  <a:srgbClr val="94A3B8"/>
                </a:solidFill>
              </a:rPr>
              <a:t>When an official clicks 'Mark Hazard Fixed', the UI immediately unblocks the road locally, recalculates the path, and updates without page reloads.</a:t>
            </a:r>
          </a:p>
          <a:p>
            <a:pPr>
              <a:spcAft>
                <a:spcPts val="700"/>
              </a:spcAft>
            </a:pPr>
            <a:r>
              <a:rPr sz="950" b="1">
                <a:solidFill>
                  <a:srgbClr val="F8FAFC"/>
                </a:solidFill>
              </a:rPr>
              <a:t>• Clean Single-Layer Pin Markers: </a:t>
            </a:r>
            <a:r>
              <a:rPr sz="900">
                <a:solidFill>
                  <a:srgbClr val="94A3B8"/>
                </a:solidFill>
              </a:rPr>
              <a:t>Emoji pin badges (🚚 Origin, 🏁 Destination) with offset tooltips prevent double-label clutter on small displays.</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Judge Defense (GIS Architecture): </a:t>
            </a:r>
            <a:r>
              <a:rPr sz="950">
                <a:solidFill>
                  <a:srgbClr val="F8FAFC"/>
                </a:solidFill>
              </a:rPr>
              <a:t>Why Leaflet over Google Maps API? Google Maps is a closed black box optimizing for city traffic. Leaflet + PostGIS gives us direct mathematical control over vector layers, custom spline curvature, and offline tile caching.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03</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3: EXPERT 2 (ROUTING &amp; AI)  |  Risk-Penalized Dijkstra Algorithm, Graph Modeling &amp; Detours</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AI Routing Engine: Risk-Penalized Graph Navigation</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NetworkX Mathematical Modeling, OSRM Highway Engine &amp; Dynamic Waypoints</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38BDF8"/>
                </a:solidFill>
              </a:defRPr>
            </a:pPr>
            <a:r>
              <a:t>Graph Mathematical Modeling (NetworkX)</a:t>
            </a:r>
          </a:p>
          <a:p>
            <a:pPr>
              <a:spcAft>
                <a:spcPts val="700"/>
              </a:spcAft>
            </a:pPr>
            <a:r>
              <a:rPr sz="950" b="1">
                <a:solidFill>
                  <a:srgbClr val="F8FAFC"/>
                </a:solidFill>
              </a:rPr>
              <a:t>• Directed Network Graph G = (V, E): </a:t>
            </a:r>
            <a:r>
              <a:rPr sz="900">
                <a:solidFill>
                  <a:srgbClr val="94A3B8"/>
                </a:solidFill>
              </a:rPr>
              <a:t>Intersections and logistics hubs are vertices (V); highway segments are weighted directional edges (E).</a:t>
            </a:r>
          </a:p>
          <a:p>
            <a:pPr>
              <a:spcAft>
                <a:spcPts val="700"/>
              </a:spcAft>
            </a:pPr>
            <a:r>
              <a:rPr sz="950" b="1">
                <a:solidFill>
                  <a:srgbClr val="F8FAFC"/>
                </a:solidFill>
              </a:rPr>
              <a:t>• Dual Routing Engines: </a:t>
            </a:r>
            <a:r>
              <a:rPr sz="900">
                <a:solidFill>
                  <a:srgbClr val="94A3B8"/>
                </a:solidFill>
              </a:rPr>
              <a:t>Primary intelligence is our Python FastAPI graph engine; secondary fallback is the OpenStreetMap OSRM driving router with dynamic waypoint injection.</a:t>
            </a:r>
          </a:p>
          <a:p>
            <a:pPr>
              <a:spcAft>
                <a:spcPts val="700"/>
              </a:spcAft>
            </a:pPr>
            <a:r>
              <a:rPr sz="950" b="1">
                <a:solidFill>
                  <a:srgbClr val="F8FAFC"/>
                </a:solidFill>
              </a:rPr>
              <a:t>• Junction Link Healing: </a:t>
            </a:r>
            <a:r>
              <a:rPr sz="900">
                <a:solidFill>
                  <a:srgbClr val="94A3B8"/>
                </a:solidFill>
              </a:rPr>
              <a:t>Adjacent highway endpoints within 250 meters are automatically linked in memory to guarantee 100% connected graph topology across state boundaries.</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4D399"/>
                </a:solidFill>
              </a:defRPr>
            </a:pPr>
            <a:r>
              <a:t>The Exponential Risk-Penalty Formulation</a:t>
            </a:r>
          </a:p>
          <a:p>
            <a:pPr>
              <a:spcAft>
                <a:spcPts val="700"/>
              </a:spcAft>
            </a:pPr>
            <a:r>
              <a:rPr sz="950" b="1">
                <a:solidFill>
                  <a:srgbClr val="F8FAFC"/>
                </a:solidFill>
              </a:rPr>
              <a:t>• Traditional GPS Formula: </a:t>
            </a:r>
            <a:r>
              <a:rPr sz="900">
                <a:solidFill>
                  <a:srgbClr val="94A3B8"/>
                </a:solidFill>
              </a:rPr>
              <a:t>Cost = Distance (Fails catastrophically during natural disasters).</a:t>
            </a:r>
          </a:p>
          <a:p>
            <a:pPr>
              <a:spcAft>
                <a:spcPts val="700"/>
              </a:spcAft>
            </a:pPr>
            <a:r>
              <a:rPr sz="950" b="1">
                <a:solidFill>
                  <a:srgbClr val="F8FAFC"/>
                </a:solidFill>
              </a:rPr>
              <a:t>• Setu Risk Cost Equation: </a:t>
            </a:r>
            <a:r>
              <a:rPr sz="900">
                <a:solidFill>
                  <a:srgbClr val="94A3B8"/>
                </a:solidFill>
              </a:rPr>
              <a:t>Edge Cost = Distance × [ 1.0 + ( RRI / (1.001 - Tolerance) )² ]</a:t>
            </a:r>
          </a:p>
          <a:p>
            <a:pPr>
              <a:spcAft>
                <a:spcPts val="700"/>
              </a:spcAft>
            </a:pPr>
            <a:r>
              <a:rPr sz="950" b="1">
                <a:solidFill>
                  <a:srgbClr val="F8FAFC"/>
                </a:solidFill>
              </a:rPr>
              <a:t>• The Tolerance Slider (40% - 90%): </a:t>
            </a:r>
            <a:r>
              <a:rPr sz="900">
                <a:solidFill>
                  <a:srgbClr val="94A3B8"/>
                </a:solidFill>
              </a:rPr>
              <a:t>Allows convoy commanders to tune risk appetite. As a road's RRI approaches the tolerance limit, the denominator approaches zero, causing edge cost to spike exponentially toward infinity.</a:t>
            </a:r>
          </a:p>
          <a:p>
            <a:pPr>
              <a:spcAft>
                <a:spcPts val="700"/>
              </a:spcAft>
            </a:pPr>
            <a:r>
              <a:rPr sz="950" b="1">
                <a:solidFill>
                  <a:srgbClr val="F8FAFC"/>
                </a:solidFill>
              </a:rPr>
              <a:t>• Algorithmic Divergence: </a:t>
            </a:r>
            <a:r>
              <a:rPr sz="900">
                <a:solidFill>
                  <a:srgbClr val="94A3B8"/>
                </a:solidFill>
              </a:rPr>
              <a:t>Dijkstra mathematically abandons the high-risk shortcut and selects a longer, verified stable bypass corridor in &lt; 20ms.</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FBBF24"/>
                </a:solidFill>
              </a:defRPr>
            </a:pPr>
            <a:r>
              <a:t>Destination-Aware Detour Geometry</a:t>
            </a:r>
          </a:p>
          <a:p>
            <a:pPr>
              <a:spcAft>
                <a:spcPts val="700"/>
              </a:spcAft>
            </a:pPr>
            <a:r>
              <a:rPr sz="950" b="1">
                <a:solidFill>
                  <a:srgbClr val="F8FAFC"/>
                </a:solidFill>
              </a:rPr>
              <a:t>• The Overshooting Prevention Engine: </a:t>
            </a:r>
            <a:r>
              <a:rPr sz="900">
                <a:solidFill>
                  <a:srgbClr val="94A3B8"/>
                </a:solidFill>
              </a:rPr>
              <a:t>Generic detour waypoints often force vehicles south of their destination, creating wasteful U-turns.</a:t>
            </a:r>
          </a:p>
          <a:p>
            <a:pPr>
              <a:spcAft>
                <a:spcPts val="700"/>
              </a:spcAft>
            </a:pPr>
            <a:r>
              <a:rPr sz="950" b="1">
                <a:solidFill>
                  <a:srgbClr val="F8FAFC"/>
                </a:solidFill>
              </a:rPr>
              <a:t>• Bounding Box Traversal Check: </a:t>
            </a:r>
            <a:r>
              <a:rPr sz="900">
                <a:solidFill>
                  <a:srgbClr val="94A3B8"/>
                </a:solidFill>
              </a:rPr>
              <a:t>Our algorithm evaluates geographic bounds (minLat, maxLat). A trip from Nongpoh to Umiam never traverses southern descent corridors.</a:t>
            </a:r>
          </a:p>
          <a:p>
            <a:pPr>
              <a:spcAft>
                <a:spcPts val="700"/>
              </a:spcAft>
            </a:pPr>
            <a:r>
              <a:rPr sz="950" b="1">
                <a:solidFill>
                  <a:srgbClr val="F8FAFC"/>
                </a:solidFill>
              </a:rPr>
              <a:t>• Corridor-Specific Bypass Waypoints: </a:t>
            </a:r>
            <a:r>
              <a:rPr sz="900">
                <a:solidFill>
                  <a:srgbClr val="94A3B8"/>
                </a:solidFill>
              </a:rPr>
              <a:t>Bypasses Umsning blockades via Umroi Pass (25.710°N) for northern targets, and Shillong East Bypass (25.640°N) for southern convoys.</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Judge Defense (AI Routing): </a:t>
            </a:r>
            <a:r>
              <a:rPr sz="950">
                <a:solidFill>
                  <a:srgbClr val="F8FAFC"/>
                </a:solidFill>
              </a:rPr>
              <a:t>What if the shortest route is high-risk? Our exponential penalty forces the Dijkstra cost to infinity, guaranteeing heavy freight is automatically diverted to all-weather bypasses.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04</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4: EXPERT 3 (DATA SCIENCE &amp; RISK)  |  Road Risk Index (RRI), Environmental Telemetry &amp; Geotechnical Fusion</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Geotechnical Risk Formulation &amp; Live Data Pipelines</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Deterministic Physics Modeling, OpenWeather API &amp; GSI Geological Baselines</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38BDF8"/>
                </a:solidFill>
              </a:defRPr>
            </a:pPr>
            <a:r>
              <a:t>Multi-Factor Road Risk Index (RRI) Equation</a:t>
            </a:r>
          </a:p>
          <a:p>
            <a:pPr>
              <a:spcAft>
                <a:spcPts val="700"/>
              </a:spcAft>
            </a:pPr>
            <a:r>
              <a:rPr sz="950" b="1">
                <a:solidFill>
                  <a:srgbClr val="F8FAFC"/>
                </a:solidFill>
              </a:rPr>
              <a:t>• Deterministic Formulation: </a:t>
            </a:r>
            <a:r>
              <a:rPr sz="900">
                <a:solidFill>
                  <a:srgbClr val="94A3B8"/>
                </a:solidFill>
              </a:rPr>
              <a:t>RRI = (0.25 × Slope) + (0.35 × Rain) + (0.20 × GSI_History) + (0.20 × Reports)</a:t>
            </a:r>
          </a:p>
          <a:p>
            <a:pPr>
              <a:spcAft>
                <a:spcPts val="700"/>
              </a:spcAft>
            </a:pPr>
            <a:r>
              <a:rPr sz="950" b="1">
                <a:solidFill>
                  <a:srgbClr val="F8FAFC"/>
                </a:solidFill>
              </a:rPr>
              <a:t>• Continuous Normalization: </a:t>
            </a:r>
            <a:r>
              <a:rPr sz="900">
                <a:solidFill>
                  <a:srgbClr val="94A3B8"/>
                </a:solidFill>
              </a:rPr>
              <a:t>Produces a deterministic risk coefficient bounded between 0.00 (optimal) and 1.00 (impassable catastrophe).</a:t>
            </a:r>
          </a:p>
          <a:p>
            <a:pPr>
              <a:spcAft>
                <a:spcPts val="700"/>
              </a:spcAft>
            </a:pPr>
            <a:r>
              <a:rPr sz="950" b="1">
                <a:solidFill>
                  <a:srgbClr val="F8FAFC"/>
                </a:solidFill>
              </a:rPr>
              <a:t>• Physics Basis: </a:t>
            </a:r>
            <a:r>
              <a:rPr sz="900">
                <a:solidFill>
                  <a:srgbClr val="94A3B8"/>
                </a:solidFill>
              </a:rPr>
              <a:t>Water pore pressure reduces soil shear strength on steep inclines, triggering sudden translational debris flows.</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4D399"/>
                </a:solidFill>
              </a:defRPr>
            </a:pPr>
            <a:r>
              <a:t>Live Environmental Data Pipeline &amp; Origins</a:t>
            </a:r>
          </a:p>
          <a:p>
            <a:pPr>
              <a:spcAft>
                <a:spcPts val="700"/>
              </a:spcAft>
            </a:pPr>
            <a:r>
              <a:rPr sz="950" b="1">
                <a:solidFill>
                  <a:srgbClr val="F8FAFC"/>
                </a:solidFill>
              </a:rPr>
              <a:t>• Slope Gradient (25% Weight): </a:t>
            </a:r>
            <a:r>
              <a:rPr sz="900">
                <a:solidFill>
                  <a:srgbClr val="94A3B8"/>
                </a:solidFill>
              </a:rPr>
              <a:t>Derived from 30-meter NASA SRTM Digital Elevation Models (DEM). Road inclines &gt; 25° trigger critical gravitational shear multipliers.</a:t>
            </a:r>
          </a:p>
          <a:p>
            <a:pPr>
              <a:spcAft>
                <a:spcPts val="700"/>
              </a:spcAft>
            </a:pPr>
            <a:r>
              <a:rPr sz="950" b="1">
                <a:solidFill>
                  <a:srgbClr val="F8FAFC"/>
                </a:solidFill>
              </a:rPr>
              <a:t>• Weather Telemetry (35% Weight): </a:t>
            </a:r>
            <a:r>
              <a:rPr sz="900">
                <a:solidFill>
                  <a:srgbClr val="94A3B8"/>
                </a:solidFill>
              </a:rPr>
              <a:t>Polled via OpenWeatherMap OneCall API every 30s. Sustained precipitation &gt; 20 mm/hr acts as a critical triggering threshold.</a:t>
            </a:r>
          </a:p>
          <a:p>
            <a:pPr>
              <a:spcAft>
                <a:spcPts val="700"/>
              </a:spcAft>
            </a:pPr>
            <a:r>
              <a:rPr sz="950" b="1">
                <a:solidFill>
                  <a:srgbClr val="F8FAFC"/>
                </a:solidFill>
              </a:rPr>
              <a:t>• Geological Baseline (20% Weight): </a:t>
            </a:r>
            <a:r>
              <a:rPr sz="900">
                <a:solidFill>
                  <a:srgbClr val="94A3B8"/>
                </a:solidFill>
              </a:rPr>
              <a:t>Seeded from Geological Survey of India (GSI) 1:50,000 National Landslide Susceptibility Mapping (NLSM) shapefiles.</a:t>
            </a:r>
          </a:p>
          <a:p>
            <a:pPr>
              <a:spcAft>
                <a:spcPts val="700"/>
              </a:spcAft>
            </a:pPr>
            <a:r>
              <a:rPr sz="950" b="1">
                <a:solidFill>
                  <a:srgbClr val="F8FAFC"/>
                </a:solidFill>
              </a:rPr>
              <a:t>• Corroborated Telemetry (20% Weight): </a:t>
            </a:r>
            <a:r>
              <a:rPr sz="900">
                <a:solidFill>
                  <a:srgbClr val="94A3B8"/>
                </a:solidFill>
              </a:rPr>
              <a:t>Dynamic weight adjustments from verified field incident reports.</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FBBF24"/>
                </a:solidFill>
              </a:defRPr>
            </a:pPr>
            <a:r>
              <a:t>Data Pipeline Cadence &amp; Fault-Tolerant Caching</a:t>
            </a:r>
          </a:p>
          <a:p>
            <a:pPr>
              <a:spcAft>
                <a:spcPts val="700"/>
              </a:spcAft>
            </a:pPr>
            <a:r>
              <a:rPr sz="950" b="1">
                <a:solidFill>
                  <a:srgbClr val="F8FAFC"/>
                </a:solidFill>
              </a:rPr>
              <a:t>• 30-Second API Polling Worker: </a:t>
            </a:r>
            <a:r>
              <a:rPr sz="900">
                <a:solidFill>
                  <a:srgbClr val="94A3B8"/>
                </a:solidFill>
              </a:rPr>
              <a:t>A background cron pipeline ingests atmospheric data across East Khasi Hills weather stations (Cherrapunji, Shillong, Nongpoh).</a:t>
            </a:r>
          </a:p>
          <a:p>
            <a:pPr>
              <a:spcAft>
                <a:spcPts val="700"/>
              </a:spcAft>
            </a:pPr>
            <a:r>
              <a:rPr sz="950" b="1">
                <a:solidFill>
                  <a:srgbClr val="F8FAFC"/>
                </a:solidFill>
              </a:rPr>
              <a:t>• In-Memory Risk Cache: </a:t>
            </a:r>
            <a:r>
              <a:rPr sz="900">
                <a:solidFill>
                  <a:srgbClr val="94A3B8"/>
                </a:solidFill>
              </a:rPr>
              <a:t>Environmental factors are cached in Redis / PostgreSQL to eliminate external API rate-limiting during emergency traffic surges.</a:t>
            </a:r>
          </a:p>
          <a:p>
            <a:pPr>
              <a:spcAft>
                <a:spcPts val="700"/>
              </a:spcAft>
            </a:pPr>
            <a:r>
              <a:rPr sz="950" b="1">
                <a:solidFill>
                  <a:srgbClr val="F8FAFC"/>
                </a:solidFill>
              </a:rPr>
              <a:t>• Hydrological River Sensors: </a:t>
            </a:r>
            <a:r>
              <a:rPr sz="900">
                <a:solidFill>
                  <a:srgbClr val="94A3B8"/>
                </a:solidFill>
              </a:rPr>
              <a:t>Central Water Commission (CWC) ultrasonic sensors stream river height to detect low-lying bridge flooding (e.g. Umngot River at Dawki).</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Judge Defense (Risk Formulation): </a:t>
            </a:r>
            <a:r>
              <a:rPr sz="950">
                <a:solidFill>
                  <a:srgbClr val="F8FAFC"/>
                </a:solidFill>
              </a:rPr>
              <a:t>How do you mathematically predict road collapse? By fusing static shear strength baselines from GSI with live pore-pressure telemetry from OpenWeatherMap and DEM slope vectors.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05</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5: EXPERT 4 (OFFLINE &amp; EDGE)  |  PWA Architecture, 2G SMS Webhook Parser &amp; Canvas Compression</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Edge Resilience: Offline-First PWA &amp; 2G Telemetry</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IndexedDB Tile Caching, Background Sync &amp; Inbound SMS NLP Fallback</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38BDF8"/>
                </a:solidFill>
              </a:defRPr>
            </a:pPr>
            <a:r>
              <a:t>Zero-Signal PWA Architecture</a:t>
            </a:r>
          </a:p>
          <a:p>
            <a:pPr>
              <a:spcAft>
                <a:spcPts val="700"/>
              </a:spcAft>
            </a:pPr>
            <a:r>
              <a:rPr sz="950" b="1">
                <a:solidFill>
                  <a:srgbClr val="F8FAFC"/>
                </a:solidFill>
              </a:rPr>
              <a:t>• Progressive Web App (PWA): </a:t>
            </a:r>
            <a:r>
              <a:rPr sz="900">
                <a:solidFill>
                  <a:srgbClr val="94A3B8"/>
                </a:solidFill>
              </a:rPr>
              <a:t>Installable on mobile devices with zero app-store dependency; runs natively on Android &amp; iOS.</a:t>
            </a:r>
          </a:p>
          <a:p>
            <a:pPr>
              <a:spcAft>
                <a:spcPts val="700"/>
              </a:spcAft>
            </a:pPr>
            <a:r>
              <a:rPr sz="950" b="1">
                <a:solidFill>
                  <a:srgbClr val="F8FAFC"/>
                </a:solidFill>
              </a:rPr>
              <a:t>• ServiceWorker Interception: </a:t>
            </a:r>
            <a:r>
              <a:rPr sz="900">
                <a:solidFill>
                  <a:srgbClr val="94A3B8"/>
                </a:solidFill>
              </a:rPr>
              <a:t>Every fetch request is intercepted by our custom ServiceWorker cache strategy (Cache-First for map tiles; Network-First for alerts).</a:t>
            </a:r>
          </a:p>
          <a:p>
            <a:pPr>
              <a:spcAft>
                <a:spcPts val="700"/>
              </a:spcAft>
            </a:pPr>
            <a:r>
              <a:rPr sz="950" b="1">
                <a:solidFill>
                  <a:srgbClr val="F8FAFC"/>
                </a:solidFill>
              </a:rPr>
              <a:t>• IndexedDB Vector Storage: </a:t>
            </a:r>
            <a:r>
              <a:rPr sz="900">
                <a:solidFill>
                  <a:srgbClr val="94A3B8"/>
                </a:solidFill>
              </a:rPr>
              <a:t>Map geometries, routing graphs, and offline hub coordinates are serialized in browser IndexedDB, keeping navigation active in 100% dead-zones.</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4D399"/>
                </a:solidFill>
              </a:defRPr>
            </a:pPr>
            <a:r>
              <a:t>Offline Reporting Queue &amp; Background Sync</a:t>
            </a:r>
          </a:p>
          <a:p>
            <a:pPr>
              <a:spcAft>
                <a:spcPts val="700"/>
              </a:spcAft>
            </a:pPr>
            <a:r>
              <a:rPr sz="950" b="1">
                <a:solidFill>
                  <a:srgbClr val="F8FAFC"/>
                </a:solidFill>
              </a:rPr>
              <a:t>• Client Storage Queue (offline-queue.ts): </a:t>
            </a:r>
            <a:r>
              <a:rPr sz="900">
                <a:solidFill>
                  <a:srgbClr val="94A3B8"/>
                </a:solidFill>
              </a:rPr>
              <a:t>When a driver reports a hazard without internet, the payload is persisted locally in localStorage/IndexedDB.</a:t>
            </a:r>
          </a:p>
          <a:p>
            <a:pPr>
              <a:spcAft>
                <a:spcPts val="700"/>
              </a:spcAft>
            </a:pPr>
            <a:r>
              <a:rPr sz="950" b="1">
                <a:solidFill>
                  <a:srgbClr val="F8FAFC"/>
                </a:solidFill>
              </a:rPr>
              <a:t>• Cell Tower Auto-Reconnection: </a:t>
            </a:r>
            <a:r>
              <a:rPr sz="900">
                <a:solidFill>
                  <a:srgbClr val="94A3B8"/>
                </a:solidFill>
              </a:rPr>
              <a:t>The window online event triggers an autonomous queue flush, posting stored reports the exact millisecond connectivity returns.</a:t>
            </a:r>
          </a:p>
          <a:p>
            <a:pPr>
              <a:spcAft>
                <a:spcPts val="700"/>
              </a:spcAft>
            </a:pPr>
            <a:r>
              <a:rPr sz="950" b="1">
                <a:solidFill>
                  <a:srgbClr val="F8FAFC"/>
                </a:solidFill>
              </a:rPr>
              <a:t>• Canvas Photo Compression: </a:t>
            </a:r>
            <a:r>
              <a:rPr sz="900">
                <a:solidFill>
                  <a:srgbClr val="94A3B8"/>
                </a:solidFill>
              </a:rPr>
              <a:t>Heavy 5MB smartphone photos are drawn onto an HTML5 Canvas and re-encoded as 60KB JPEGs locally, transmitting over fragile 2G EDGE networks in seconds.</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FBBF24"/>
                </a:solidFill>
              </a:defRPr>
            </a:pPr>
            <a:r>
              <a:t>2G SMS &amp; WhatsApp NLP Telemetry Gateway</a:t>
            </a:r>
          </a:p>
          <a:p>
            <a:pPr>
              <a:spcAft>
                <a:spcPts val="700"/>
              </a:spcAft>
            </a:pPr>
            <a:r>
              <a:rPr sz="950" b="1">
                <a:solidFill>
                  <a:srgbClr val="F8FAFC"/>
                </a:solidFill>
              </a:rPr>
              <a:t>• The 2G Dumb-Phone Reality: </a:t>
            </a:r>
            <a:r>
              <a:rPr sz="900">
                <a:solidFill>
                  <a:srgbClr val="94A3B8"/>
                </a:solidFill>
              </a:rPr>
              <a:t>Most rural truck drivers use basic feature phones without mobile internet.</a:t>
            </a:r>
          </a:p>
          <a:p>
            <a:pPr>
              <a:spcAft>
                <a:spcPts val="700"/>
              </a:spcAft>
            </a:pPr>
            <a:r>
              <a:rPr sz="950" b="1">
                <a:solidFill>
                  <a:srgbClr val="F8FAFC"/>
                </a:solidFill>
              </a:rPr>
              <a:t>• Twilio Inbound SMS Webhook (/api/alerts/inbound-sms): </a:t>
            </a:r>
            <a:r>
              <a:rPr sz="900">
                <a:solidFill>
                  <a:srgbClr val="94A3B8"/>
                </a:solidFill>
              </a:rPr>
              <a:t>Drivers send a 160-character plain text message (e.g. 'HAZARD LANDSLIDE UMSNING').</a:t>
            </a:r>
          </a:p>
          <a:p>
            <a:pPr>
              <a:spcAft>
                <a:spcPts val="700"/>
              </a:spcAft>
            </a:pPr>
            <a:r>
              <a:rPr sz="950" b="1">
                <a:solidFill>
                  <a:srgbClr val="F8FAFC"/>
                </a:solidFill>
              </a:rPr>
              <a:t>• Python Regex NLP Tokenizer: </a:t>
            </a:r>
            <a:r>
              <a:rPr sz="900">
                <a:solidFill>
                  <a:srgbClr val="94A3B8"/>
                </a:solidFill>
              </a:rPr>
              <a:t>Extracts hazard category, corridor name, and severity; automatically converts it into a structured PostGIS point in the database.</a:t>
            </a:r>
          </a:p>
          <a:p>
            <a:pPr>
              <a:spcAft>
                <a:spcPts val="700"/>
              </a:spcAft>
            </a:pPr>
            <a:r>
              <a:rPr sz="950" b="1">
                <a:solidFill>
                  <a:srgbClr val="F8FAFC"/>
                </a:solidFill>
              </a:rPr>
              <a:t>• 1-Tap GPS SMS Dispatch: </a:t>
            </a:r>
            <a:r>
              <a:rPr sz="900">
                <a:solidFill>
                  <a:srgbClr val="94A3B8"/>
                </a:solidFill>
              </a:rPr>
              <a:t>Our web UI auto-encodes device coordinates into pre-formatted SMS links (sms:+91...?body=...) for instant 1-tap SOS transmission.</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Judge Defense (Edge Systems): </a:t>
            </a:r>
            <a:r>
              <a:rPr sz="950">
                <a:solidFill>
                  <a:srgbClr val="F8FAFC"/>
                </a:solidFill>
              </a:rPr>
              <a:t>What happens when 4G completely collapses in a storm? The PWA continues navigating from IndexedDB, and drivers submit hazard intelligence via 160-character 2G SMS text messages.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31520" cy="731520"/>
          </a:xfrm>
          <a:prstGeom prst="rect">
            <a:avLst/>
          </a:prstGeom>
          <a:noFill/>
        </p:spPr>
        <p:txBody>
          <a:bodyPr wrap="square">
            <a:spAutoFit/>
          </a:bodyPr>
          <a:lstStyle/>
          <a:p>
            <a:pPr>
              <a:defRPr sz="2800" b="1">
                <a:solidFill>
                  <a:srgbClr val="38BDF8"/>
                </a:solidFill>
              </a:defRPr>
            </a:pPr>
            <a:r>
              <a:t>06</a:t>
            </a:r>
          </a:p>
        </p:txBody>
      </p:sp>
      <p:sp>
        <p:nvSpPr>
          <p:cNvPr id="4" name="TextBox 3"/>
          <p:cNvSpPr txBox="1"/>
          <p:nvPr/>
        </p:nvSpPr>
        <p:spPr>
          <a:xfrm>
            <a:off x="1554480" y="320040"/>
            <a:ext cx="9601200" cy="320040"/>
          </a:xfrm>
          <a:prstGeom prst="rect">
            <a:avLst/>
          </a:prstGeom>
          <a:noFill/>
        </p:spPr>
        <p:txBody>
          <a:bodyPr wrap="none">
            <a:spAutoFit/>
          </a:bodyPr>
          <a:lstStyle/>
          <a:p>
            <a:pPr>
              <a:defRPr sz="1100" b="1">
                <a:solidFill>
                  <a:srgbClr val="34D399"/>
                </a:solidFill>
              </a:defRPr>
            </a:pPr>
            <a:r>
              <a:t>🎯 PERSON 6: EXPERT 5 (DATABASE &amp; SECURITY)  |  PostGIS Spatial Engine, Row-Level Security &amp; Anti-Fraud Triage</a:t>
            </a:r>
          </a:p>
        </p:txBody>
      </p:sp>
      <p:sp>
        <p:nvSpPr>
          <p:cNvPr id="5" name="TextBox 4"/>
          <p:cNvSpPr txBox="1"/>
          <p:nvPr/>
        </p:nvSpPr>
        <p:spPr>
          <a:xfrm>
            <a:off x="1554480" y="594360"/>
            <a:ext cx="9875520" cy="548640"/>
          </a:xfrm>
          <a:prstGeom prst="rect">
            <a:avLst/>
          </a:prstGeom>
          <a:noFill/>
        </p:spPr>
        <p:txBody>
          <a:bodyPr wrap="none">
            <a:spAutoFit/>
          </a:bodyPr>
          <a:lstStyle/>
          <a:p>
            <a:pPr>
              <a:defRPr sz="2000" b="1">
                <a:solidFill>
                  <a:srgbClr val="F8FAFC"/>
                </a:solidFill>
              </a:defRPr>
            </a:pPr>
            <a:r>
              <a:t>Database Architecture, Security &amp; Anti-Fraud Verification</a:t>
            </a:r>
          </a:p>
        </p:txBody>
      </p:sp>
      <p:sp>
        <p:nvSpPr>
          <p:cNvPr id="6" name="TextBox 5"/>
          <p:cNvSpPr txBox="1"/>
          <p:nvPr/>
        </p:nvSpPr>
        <p:spPr>
          <a:xfrm>
            <a:off x="1554480" y="1115568"/>
            <a:ext cx="9875520" cy="320040"/>
          </a:xfrm>
          <a:prstGeom prst="rect">
            <a:avLst/>
          </a:prstGeom>
          <a:noFill/>
        </p:spPr>
        <p:txBody>
          <a:bodyPr wrap="none">
            <a:spAutoFit/>
          </a:bodyPr>
          <a:lstStyle/>
          <a:p>
            <a:pPr>
              <a:defRPr sz="1150">
                <a:solidFill>
                  <a:srgbClr val="94A3B8"/>
                </a:solidFill>
              </a:defRPr>
            </a:pPr>
            <a:r>
              <a:t>PostGIS Spatial Geometry, AES-GCM Encryption &amp; Dual-Trust Human Triage</a:t>
            </a:r>
          </a:p>
        </p:txBody>
      </p:sp>
      <p:sp>
        <p:nvSpPr>
          <p:cNvPr id="7" name="Rounded Rectangle 6"/>
          <p:cNvSpPr/>
          <p:nvPr/>
        </p:nvSpPr>
        <p:spPr>
          <a:xfrm>
            <a:off x="731520"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737360"/>
            <a:ext cx="3035808" cy="3648455"/>
          </a:xfrm>
          <a:prstGeom prst="rect">
            <a:avLst/>
          </a:prstGeom>
          <a:noFill/>
        </p:spPr>
        <p:txBody>
          <a:bodyPr wrap="square">
            <a:spAutoFit/>
          </a:bodyPr>
          <a:lstStyle/>
          <a:p>
            <a:pPr>
              <a:spcAft>
                <a:spcPts val="1000"/>
              </a:spcAft>
              <a:defRPr sz="1300" b="1">
                <a:solidFill>
                  <a:srgbClr val="38BDF8"/>
                </a:solidFill>
              </a:defRPr>
            </a:pPr>
            <a:r>
              <a:t>Database Architecture &amp; Spatial Primitives</a:t>
            </a:r>
          </a:p>
          <a:p>
            <a:pPr>
              <a:spcAft>
                <a:spcPts val="700"/>
              </a:spcAft>
            </a:pPr>
            <a:r>
              <a:rPr sz="950" b="1">
                <a:solidFill>
                  <a:srgbClr val="F8FAFC"/>
                </a:solidFill>
              </a:rPr>
              <a:t>• Supabase PostgreSQL 15 + PostGIS: </a:t>
            </a:r>
            <a:r>
              <a:rPr sz="900">
                <a:solidFill>
                  <a:srgbClr val="94A3B8"/>
                </a:solidFill>
              </a:rPr>
              <a:t>Enterprise spatial database storing exact vector geometry rather than loose text strings.</a:t>
            </a:r>
          </a:p>
          <a:p>
            <a:pPr>
              <a:spcAft>
                <a:spcPts val="700"/>
              </a:spcAft>
            </a:pPr>
            <a:r>
              <a:rPr sz="950" b="1">
                <a:solidFill>
                  <a:srgbClr val="F8FAFC"/>
                </a:solidFill>
              </a:rPr>
              <a:t>• Spatial Primitives: </a:t>
            </a:r>
            <a:r>
              <a:rPr sz="900">
                <a:solidFill>
                  <a:srgbClr val="94A3B8"/>
                </a:solidFill>
              </a:rPr>
              <a:t>Highway segments stored as ST_LineString geometries; incident reports stored as ST_Point coordinates with spatial spatial indexing (GIST).</a:t>
            </a:r>
          </a:p>
          <a:p>
            <a:pPr>
              <a:spcAft>
                <a:spcPts val="700"/>
              </a:spcAft>
            </a:pPr>
            <a:r>
              <a:rPr sz="950" b="1">
                <a:solidFill>
                  <a:srgbClr val="F8FAFC"/>
                </a:solidFill>
              </a:rPr>
              <a:t>• National Scalability: </a:t>
            </a:r>
            <a:r>
              <a:rPr sz="900">
                <a:solidFill>
                  <a:srgbClr val="94A3B8"/>
                </a:solidFill>
              </a:rPr>
              <a:t>Scaling Setu to Sikkim or Ladakh requires zero code rewrites—simply executing an SQL INSERT with new state OSM geometries.</a:t>
            </a:r>
          </a:p>
        </p:txBody>
      </p:sp>
      <p:sp>
        <p:nvSpPr>
          <p:cNvPr id="9" name="Rounded Rectangle 8"/>
          <p:cNvSpPr/>
          <p:nvPr/>
        </p:nvSpPr>
        <p:spPr>
          <a:xfrm>
            <a:off x="4398264"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2856" y="1737360"/>
            <a:ext cx="3035808" cy="3648455"/>
          </a:xfrm>
          <a:prstGeom prst="rect">
            <a:avLst/>
          </a:prstGeom>
          <a:noFill/>
        </p:spPr>
        <p:txBody>
          <a:bodyPr wrap="square">
            <a:spAutoFit/>
          </a:bodyPr>
          <a:lstStyle/>
          <a:p>
            <a:pPr>
              <a:spcAft>
                <a:spcPts val="1000"/>
              </a:spcAft>
              <a:defRPr sz="1300" b="1">
                <a:solidFill>
                  <a:srgbClr val="34D399"/>
                </a:solidFill>
              </a:defRPr>
            </a:pPr>
            <a:r>
              <a:t>Anti-Fraud &amp; Spam Protection Engine</a:t>
            </a:r>
          </a:p>
          <a:p>
            <a:pPr>
              <a:spcAft>
                <a:spcPts val="700"/>
              </a:spcAft>
            </a:pPr>
            <a:r>
              <a:rPr sz="950" b="1">
                <a:solidFill>
                  <a:srgbClr val="F8FAFC"/>
                </a:solidFill>
              </a:rPr>
              <a:t>• Spatial Proximity Verification (ST_DWithin): </a:t>
            </a:r>
            <a:r>
              <a:rPr sz="900">
                <a:solidFill>
                  <a:srgbClr val="94A3B8"/>
                </a:solidFill>
              </a:rPr>
              <a:t>When a driver reports a hazard, PostGIS executes an ST_DWithin query proving the driver's GPS coordinate is within 200m of the claimed road.</a:t>
            </a:r>
          </a:p>
          <a:p>
            <a:pPr>
              <a:spcAft>
                <a:spcPts val="700"/>
              </a:spcAft>
            </a:pPr>
            <a:r>
              <a:rPr sz="950" b="1">
                <a:solidFill>
                  <a:srgbClr val="F8FAFC"/>
                </a:solidFill>
              </a:rPr>
              <a:t>• Multi-Source Consensus Clustering: </a:t>
            </a:r>
            <a:r>
              <a:rPr sz="900">
                <a:solidFill>
                  <a:srgbClr val="94A3B8"/>
                </a:solidFill>
              </a:rPr>
              <a:t>A single lone report never shuts down a highway. Our DBSCAN clustering engine requires 3 independent reports within 500m / 20min to escalate severity.</a:t>
            </a:r>
          </a:p>
          <a:p>
            <a:pPr>
              <a:spcAft>
                <a:spcPts val="700"/>
              </a:spcAft>
            </a:pPr>
            <a:r>
              <a:rPr sz="950" b="1">
                <a:solidFill>
                  <a:srgbClr val="F8FAFC"/>
                </a:solidFill>
              </a:rPr>
              <a:t>• Telemetry Deceleration Verification: </a:t>
            </a:r>
            <a:r>
              <a:rPr sz="900">
                <a:solidFill>
                  <a:srgbClr val="94A3B8"/>
                </a:solidFill>
              </a:rPr>
              <a:t>The system checks if subsequent vehicles on that corridor decelerated to &lt; 5 km/h. If traffic flows at 50 km/h, the report is penalized as fraudulent.</a:t>
            </a:r>
          </a:p>
          <a:p>
            <a:pPr>
              <a:spcAft>
                <a:spcPts val="700"/>
              </a:spcAft>
            </a:pPr>
            <a:r>
              <a:rPr sz="950" b="1">
                <a:solidFill>
                  <a:srgbClr val="F8FAFC"/>
                </a:solidFill>
              </a:rPr>
              <a:t>• Driver Phone Hashing &amp; Trust Index: </a:t>
            </a:r>
            <a:r>
              <a:rPr sz="900">
                <a:solidFill>
                  <a:srgbClr val="94A3B8"/>
                </a:solidFill>
              </a:rPr>
              <a:t>Phone numbers are hashed (SHA-256); malicious spammers have their trust score revoked and numbers blacklisted.</a:t>
            </a:r>
          </a:p>
        </p:txBody>
      </p:sp>
      <p:sp>
        <p:nvSpPr>
          <p:cNvPr id="11" name="Rounded Rectangle 10"/>
          <p:cNvSpPr/>
          <p:nvPr/>
        </p:nvSpPr>
        <p:spPr>
          <a:xfrm>
            <a:off x="8065008" y="1572768"/>
            <a:ext cx="3364992" cy="3977639"/>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737360"/>
            <a:ext cx="3035808" cy="3648455"/>
          </a:xfrm>
          <a:prstGeom prst="rect">
            <a:avLst/>
          </a:prstGeom>
          <a:noFill/>
        </p:spPr>
        <p:txBody>
          <a:bodyPr wrap="square">
            <a:spAutoFit/>
          </a:bodyPr>
          <a:lstStyle/>
          <a:p>
            <a:pPr>
              <a:spcAft>
                <a:spcPts val="1000"/>
              </a:spcAft>
              <a:defRPr sz="1300" b="1">
                <a:solidFill>
                  <a:srgbClr val="FBBF24"/>
                </a:solidFill>
              </a:defRPr>
            </a:pPr>
            <a:r>
              <a:t>Dual-Trust Triage Queue &amp; Cryptography</a:t>
            </a:r>
          </a:p>
          <a:p>
            <a:pPr>
              <a:spcAft>
                <a:spcPts val="700"/>
              </a:spcAft>
            </a:pPr>
            <a:r>
              <a:rPr sz="950" b="1">
                <a:solidFill>
                  <a:srgbClr val="F8FAFC"/>
                </a:solidFill>
              </a:rPr>
              <a:t>• Two-Tier Lifecycle (Unverified vs. Verified): </a:t>
            </a:r>
            <a:r>
              <a:rPr sz="900">
                <a:solidFill>
                  <a:srgbClr val="94A3B8"/>
                </a:solidFill>
              </a:rPr>
              <a:t>Crowdsourced reports enter as 'unverified' advisory pins. Mandatory convoy reroutes are ONLY triggered once officially verified.</a:t>
            </a:r>
          </a:p>
          <a:p>
            <a:pPr>
              <a:spcAft>
                <a:spcPts val="700"/>
              </a:spcAft>
            </a:pPr>
            <a:r>
              <a:rPr sz="950" b="1">
                <a:solidFill>
                  <a:srgbClr val="F8FAFC"/>
                </a:solidFill>
              </a:rPr>
              <a:t>• Human-in-the-Loop Triage Console (/dashboard/reports): </a:t>
            </a:r>
            <a:r>
              <a:rPr sz="900">
                <a:solidFill>
                  <a:srgbClr val="94A3B8"/>
                </a:solidFill>
              </a:rPr>
              <a:t>District Duty Officers review encrypted photos and telemetry before executing authoritative database mutations.</a:t>
            </a:r>
          </a:p>
          <a:p>
            <a:pPr>
              <a:spcAft>
                <a:spcPts val="700"/>
              </a:spcAft>
            </a:pPr>
            <a:r>
              <a:rPr sz="950" b="1">
                <a:solidFill>
                  <a:srgbClr val="F8FAFC"/>
                </a:solidFill>
              </a:rPr>
              <a:t>• Row-Level Security (RLS): </a:t>
            </a:r>
            <a:r>
              <a:rPr sz="900">
                <a:solidFill>
                  <a:srgbClr val="94A3B8"/>
                </a:solidFill>
              </a:rPr>
              <a:t>Public users have INSERT-only permissions. Only JWT-authenticated users with role='official' can clear corridors or trigger reroutes.</a:t>
            </a:r>
          </a:p>
          <a:p>
            <a:pPr>
              <a:spcAft>
                <a:spcPts val="700"/>
              </a:spcAft>
            </a:pPr>
            <a:r>
              <a:rPr sz="950" b="1">
                <a:solidFill>
                  <a:srgbClr val="F8FAFC"/>
                </a:solidFill>
              </a:rPr>
              <a:t>• AES-GCM 256-Bit Cryptography: </a:t>
            </a:r>
            <a:r>
              <a:rPr sz="900">
                <a:solidFill>
                  <a:srgbClr val="94A3B8"/>
                </a:solidFill>
              </a:rPr>
              <a:t>Sensitive citizen identity hashes and convoy payloads are encrypted client-side using Web Crypto AES-GCM.</a:t>
            </a:r>
          </a:p>
        </p:txBody>
      </p:sp>
      <p:sp>
        <p:nvSpPr>
          <p:cNvPr id="13" name="Rounded Rectangle 12"/>
          <p:cNvSpPr/>
          <p:nvPr/>
        </p:nvSpPr>
        <p:spPr>
          <a:xfrm>
            <a:off x="731520" y="5715000"/>
            <a:ext cx="10728655" cy="77724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742432"/>
            <a:ext cx="10424160" cy="713232"/>
          </a:xfrm>
          <a:prstGeom prst="rect">
            <a:avLst/>
          </a:prstGeom>
          <a:noFill/>
        </p:spPr>
        <p:txBody>
          <a:bodyPr wrap="square">
            <a:spAutoFit/>
          </a:bodyPr>
          <a:lstStyle/>
          <a:p>
            <a:r>
              <a:rPr sz="1000" b="1">
                <a:solidFill>
                  <a:srgbClr val="38BDF8"/>
                </a:solidFill>
              </a:rPr>
              <a:t>❓ Judge Defense (Security &amp; Anti-Fraud): </a:t>
            </a:r>
            <a:r>
              <a:rPr sz="950">
                <a:solidFill>
                  <a:srgbClr val="F8FAFC"/>
                </a:solidFill>
              </a:rPr>
              <a:t>How do you prevent rogue drivers from faking landslides to disrupt supply chains? ST_DWithin GPS validation, multi-vehicle consensus, and strict Human-in-the-Loop RLS authorization.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